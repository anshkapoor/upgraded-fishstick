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561" r:id="rId2"/>
    <p:sldId id="2562" r:id="rId3"/>
    <p:sldId id="2563" r:id="rId4"/>
    <p:sldId id="2565" r:id="rId5"/>
    <p:sldId id="2568" r:id="rId6"/>
    <p:sldId id="2569" r:id="rId7"/>
    <p:sldId id="2571" r:id="rId8"/>
    <p:sldId id="2573" r:id="rId9"/>
    <p:sldId id="2574" r:id="rId10"/>
    <p:sldId id="2583" r:id="rId11"/>
    <p:sldId id="2584" r:id="rId12"/>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Spy: Ground Support Python Software for ESA’s EnVision Venus Mission – Technical Introduction and Protocol Extension Walkthrough" id="{E0493441-0395-4653-B694-EFB52AAB3108}">
          <p14:sldIdLst>
            <p14:sldId id="2561"/>
            <p14:sldId id="2562"/>
          </p14:sldIdLst>
        </p14:section>
        <p14:section name="Technical Overview of GSpy Software" id="{EC0FCB2C-F424-4904-84DB-E26E5C669529}">
          <p14:sldIdLst>
            <p14:sldId id="2563"/>
            <p14:sldId id="2565"/>
          </p14:sldIdLst>
        </p14:section>
        <p14:section name="Integration with SpaceWire Test Equipment" id="{27BDBEB8-8487-43B5-8613-5F5908B18099}">
          <p14:sldIdLst>
            <p14:sldId id="2568"/>
            <p14:sldId id="2569"/>
          </p14:sldIdLst>
        </p14:section>
        <p14:section name="Extending GSpy: Adding a New Protocol Service" id="{81F57FEF-009B-4F6E-AA2C-4E9472AB8081}">
          <p14:sldIdLst>
            <p14:sldId id="2571"/>
            <p14:sldId id="2573"/>
            <p14:sldId id="2574"/>
          </p14:sldIdLst>
        </p14:section>
        <p14:section name="Connecting to and Testing with SpaceWire Devices" id="{3FB90FAB-5ABE-48E3-AC9F-B4AC9470ECF1}">
          <p14:sldIdLst/>
        </p14:section>
        <p14:section name="Best Practices and Development Guidelines" id="{141B4C45-80DB-468F-9F65-177994E8FFB7}">
          <p14:sldIdLst/>
        </p14:section>
        <p14:section name="Conclusion" id="{D9E16F3C-468F-413A-BF95-139E2E635B65}">
          <p14:sldIdLst>
            <p14:sldId id="2583"/>
            <p14:sldId id="25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EBD771-F5D6-F538-B4C0-0102E0D77ADA}" v="9" dt="2025-07-29T07:31:24.877"/>
    <p1510:client id="{5B165D43-5C4C-4A0B-B40C-6661C5D197C2}" v="1290" dt="2025-07-28T21:39:40.6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p:cViewPr varScale="1">
        <p:scale>
          <a:sx n="89" d="100"/>
          <a:sy n="89" d="100"/>
        </p:scale>
        <p:origin x="57" y="441"/>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B48FC50-B9F0-4F81-9BA4-F12DD3D25512}"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F0377B86-0ABE-4BC6-8BFD-E0846A7E0211}">
      <dgm:prSet/>
      <dgm:spPr/>
      <dgm:t>
        <a:bodyPr/>
        <a:lstStyle/>
        <a:p>
          <a:pPr>
            <a:lnSpc>
              <a:spcPct val="100000"/>
            </a:lnSpc>
            <a:defRPr b="1"/>
          </a:pPr>
          <a:r>
            <a:rPr lang="en-US" dirty="0"/>
            <a:t>Based on common open source systems</a:t>
          </a:r>
        </a:p>
      </dgm:t>
    </dgm:pt>
    <dgm:pt modelId="{FC836556-F9CC-4E70-87DD-CD7630EBDD8A}" type="parTrans" cxnId="{DE37B2EE-B0D6-4DC4-AAF7-5D1D7821B13F}">
      <dgm:prSet/>
      <dgm:spPr/>
      <dgm:t>
        <a:bodyPr/>
        <a:lstStyle/>
        <a:p>
          <a:endParaRPr lang="en-US"/>
        </a:p>
      </dgm:t>
    </dgm:pt>
    <dgm:pt modelId="{9704C376-D1B9-4203-96A7-81D23B2F7309}" type="sibTrans" cxnId="{DE37B2EE-B0D6-4DC4-AAF7-5D1D7821B13F}">
      <dgm:prSet/>
      <dgm:spPr/>
      <dgm:t>
        <a:bodyPr/>
        <a:lstStyle/>
        <a:p>
          <a:pPr>
            <a:lnSpc>
              <a:spcPct val="100000"/>
            </a:lnSpc>
            <a:defRPr b="1"/>
          </a:pPr>
          <a:endParaRPr lang="en-US"/>
        </a:p>
      </dgm:t>
    </dgm:pt>
    <dgm:pt modelId="{D0D1FD9A-56D3-424E-A78F-5CE1BD10578F}">
      <dgm:prSet/>
      <dgm:spPr/>
      <dgm:t>
        <a:bodyPr/>
        <a:lstStyle/>
        <a:p>
          <a:pPr>
            <a:lnSpc>
              <a:spcPct val="100000"/>
            </a:lnSpc>
          </a:pPr>
          <a:r>
            <a:rPr lang="en-US" dirty="0"/>
            <a:t>Python 3.13</a:t>
          </a:r>
        </a:p>
      </dgm:t>
    </dgm:pt>
    <dgm:pt modelId="{D2BEE56B-A59A-400A-889B-4284FB798E63}" type="parTrans" cxnId="{AE41804E-83C3-4183-AAFE-9F121FD9BC0B}">
      <dgm:prSet/>
      <dgm:spPr/>
      <dgm:t>
        <a:bodyPr/>
        <a:lstStyle/>
        <a:p>
          <a:endParaRPr lang="en-US"/>
        </a:p>
      </dgm:t>
    </dgm:pt>
    <dgm:pt modelId="{CF3DFE16-E5FA-4A33-B700-97EDD5E495E5}" type="sibTrans" cxnId="{AE41804E-83C3-4183-AAFE-9F121FD9BC0B}">
      <dgm:prSet/>
      <dgm:spPr/>
      <dgm:t>
        <a:bodyPr/>
        <a:lstStyle/>
        <a:p>
          <a:endParaRPr lang="en-US"/>
        </a:p>
      </dgm:t>
    </dgm:pt>
    <dgm:pt modelId="{5BCC1C45-E2AE-4E25-9625-46DA64B0BB58}">
      <dgm:prSet/>
      <dgm:spPr/>
      <dgm:t>
        <a:bodyPr/>
        <a:lstStyle/>
        <a:p>
          <a:pPr>
            <a:lnSpc>
              <a:spcPct val="100000"/>
            </a:lnSpc>
            <a:defRPr b="1"/>
          </a:pPr>
          <a:r>
            <a:rPr lang="en-US" dirty="0"/>
            <a:t>Modular and Extensible Design</a:t>
          </a:r>
        </a:p>
      </dgm:t>
    </dgm:pt>
    <dgm:pt modelId="{D2367825-D925-4A4A-84CF-23B106FE158B}" type="parTrans" cxnId="{1E2AE527-8822-4251-A167-08A402AC9FDD}">
      <dgm:prSet/>
      <dgm:spPr/>
      <dgm:t>
        <a:bodyPr/>
        <a:lstStyle/>
        <a:p>
          <a:endParaRPr lang="en-US"/>
        </a:p>
      </dgm:t>
    </dgm:pt>
    <dgm:pt modelId="{F1F8BA36-A496-4813-B6C0-F37BDFDCD27D}" type="sibTrans" cxnId="{1E2AE527-8822-4251-A167-08A402AC9FDD}">
      <dgm:prSet/>
      <dgm:spPr/>
      <dgm:t>
        <a:bodyPr/>
        <a:lstStyle/>
        <a:p>
          <a:pPr>
            <a:lnSpc>
              <a:spcPct val="100000"/>
            </a:lnSpc>
            <a:defRPr b="1"/>
          </a:pPr>
          <a:endParaRPr lang="en-US"/>
        </a:p>
      </dgm:t>
    </dgm:pt>
    <dgm:pt modelId="{2DB508E6-FCEE-4080-9CBD-B4C652D8D26F}">
      <dgm:prSet/>
      <dgm:spPr/>
      <dgm:t>
        <a:bodyPr/>
        <a:lstStyle/>
        <a:p>
          <a:pPr>
            <a:lnSpc>
              <a:spcPct val="100000"/>
            </a:lnSpc>
          </a:pPr>
          <a:r>
            <a:rPr lang="en-US" dirty="0"/>
            <a:t>Unlimited Parallel view of different Widgets</a:t>
          </a:r>
        </a:p>
      </dgm:t>
    </dgm:pt>
    <dgm:pt modelId="{EDA49979-E63E-4A2C-93ED-40A60D9D39A5}" type="parTrans" cxnId="{7B6F9E85-7884-4B2D-9D8F-F52760D976CB}">
      <dgm:prSet/>
      <dgm:spPr/>
      <dgm:t>
        <a:bodyPr/>
        <a:lstStyle/>
        <a:p>
          <a:endParaRPr lang="en-US"/>
        </a:p>
      </dgm:t>
    </dgm:pt>
    <dgm:pt modelId="{A30915F3-F25A-4A1B-963E-0115BDBAFAA8}" type="sibTrans" cxnId="{7B6F9E85-7884-4B2D-9D8F-F52760D976CB}">
      <dgm:prSet/>
      <dgm:spPr/>
      <dgm:t>
        <a:bodyPr/>
        <a:lstStyle/>
        <a:p>
          <a:endParaRPr lang="en-US"/>
        </a:p>
      </dgm:t>
    </dgm:pt>
    <dgm:pt modelId="{F8807FF8-FE98-4645-B87E-DBACD7C996EE}">
      <dgm:prSet/>
      <dgm:spPr/>
      <dgm:t>
        <a:bodyPr/>
        <a:lstStyle/>
        <a:p>
          <a:pPr>
            <a:lnSpc>
              <a:spcPct val="100000"/>
            </a:lnSpc>
            <a:defRPr b="1"/>
          </a:pPr>
          <a:r>
            <a:rPr lang="en-US" dirty="0"/>
            <a:t>Heavy Development ongoing</a:t>
          </a:r>
        </a:p>
      </dgm:t>
    </dgm:pt>
    <dgm:pt modelId="{726E1F5F-F207-4FAA-B51F-34E6EED58365}" type="parTrans" cxnId="{D41AF35D-046A-46B0-8FB6-1CE5B6CFBF8E}">
      <dgm:prSet/>
      <dgm:spPr/>
      <dgm:t>
        <a:bodyPr/>
        <a:lstStyle/>
        <a:p>
          <a:endParaRPr lang="en-US"/>
        </a:p>
      </dgm:t>
    </dgm:pt>
    <dgm:pt modelId="{DFDE2079-1E40-4114-9C48-91F2D80FC520}" type="sibTrans" cxnId="{D41AF35D-046A-46B0-8FB6-1CE5B6CFBF8E}">
      <dgm:prSet/>
      <dgm:spPr/>
      <dgm:t>
        <a:bodyPr/>
        <a:lstStyle/>
        <a:p>
          <a:endParaRPr lang="en-US"/>
        </a:p>
      </dgm:t>
    </dgm:pt>
    <dgm:pt modelId="{1889E37C-FE7B-40A8-8978-28673190A8E3}">
      <dgm:prSet/>
      <dgm:spPr/>
      <dgm:t>
        <a:bodyPr/>
        <a:lstStyle/>
        <a:p>
          <a:pPr>
            <a:lnSpc>
              <a:spcPct val="100000"/>
            </a:lnSpc>
          </a:pPr>
          <a:r>
            <a:rPr lang="en-US" dirty="0"/>
            <a:t>First testing versions for MPS planned in few weeks</a:t>
          </a:r>
        </a:p>
      </dgm:t>
    </dgm:pt>
    <dgm:pt modelId="{037A7B3C-3A32-4493-980C-7E0DEC0D804C}" type="parTrans" cxnId="{FEACEE35-6A86-4B6F-A1F2-8600D42ACAA5}">
      <dgm:prSet/>
      <dgm:spPr/>
      <dgm:t>
        <a:bodyPr/>
        <a:lstStyle/>
        <a:p>
          <a:endParaRPr lang="en-US"/>
        </a:p>
      </dgm:t>
    </dgm:pt>
    <dgm:pt modelId="{F11E6E64-8B11-4302-9409-40542D82490B}" type="sibTrans" cxnId="{FEACEE35-6A86-4B6F-A1F2-8600D42ACAA5}">
      <dgm:prSet/>
      <dgm:spPr/>
      <dgm:t>
        <a:bodyPr/>
        <a:lstStyle/>
        <a:p>
          <a:endParaRPr lang="en-US"/>
        </a:p>
      </dgm:t>
    </dgm:pt>
    <dgm:pt modelId="{90F60690-B718-4EB2-AFE2-EA0652F3390F}">
      <dgm:prSet/>
      <dgm:spPr/>
      <dgm:t>
        <a:bodyPr/>
        <a:lstStyle/>
        <a:p>
          <a:pPr>
            <a:lnSpc>
              <a:spcPct val="100000"/>
            </a:lnSpc>
          </a:pPr>
          <a:r>
            <a:rPr lang="en-US" dirty="0"/>
            <a:t>Qt 6</a:t>
          </a:r>
        </a:p>
      </dgm:t>
    </dgm:pt>
    <dgm:pt modelId="{1D1839B6-A162-4069-AA1A-FFA673F142F7}" type="parTrans" cxnId="{F154DFF3-F6AC-4BD3-81A7-F8E66F651BDB}">
      <dgm:prSet/>
      <dgm:spPr/>
      <dgm:t>
        <a:bodyPr/>
        <a:lstStyle/>
        <a:p>
          <a:endParaRPr lang="de-DE"/>
        </a:p>
      </dgm:t>
    </dgm:pt>
    <dgm:pt modelId="{59898A12-6063-40AF-AE5B-F89534399EEF}" type="sibTrans" cxnId="{F154DFF3-F6AC-4BD3-81A7-F8E66F651BDB}">
      <dgm:prSet/>
      <dgm:spPr/>
      <dgm:t>
        <a:bodyPr/>
        <a:lstStyle/>
        <a:p>
          <a:endParaRPr lang="de-DE"/>
        </a:p>
      </dgm:t>
    </dgm:pt>
    <dgm:pt modelId="{9B60C220-EAEA-47C4-916C-68D35F185695}">
      <dgm:prSet/>
      <dgm:spPr/>
      <dgm:t>
        <a:bodyPr/>
        <a:lstStyle/>
        <a:p>
          <a:pPr>
            <a:lnSpc>
              <a:spcPct val="100000"/>
            </a:lnSpc>
          </a:pPr>
          <a:r>
            <a:rPr lang="en-US" dirty="0"/>
            <a:t>Linux and Windows compatible</a:t>
          </a:r>
        </a:p>
      </dgm:t>
    </dgm:pt>
    <dgm:pt modelId="{C0F163E1-E851-4C8F-AE74-22D98D9033EC}" type="parTrans" cxnId="{48619E01-8719-4736-93AF-92B68C72FC66}">
      <dgm:prSet/>
      <dgm:spPr/>
      <dgm:t>
        <a:bodyPr/>
        <a:lstStyle/>
        <a:p>
          <a:endParaRPr lang="de-DE"/>
        </a:p>
      </dgm:t>
    </dgm:pt>
    <dgm:pt modelId="{CCA4E354-9132-4983-AA0B-1BA4680081AB}" type="sibTrans" cxnId="{48619E01-8719-4736-93AF-92B68C72FC66}">
      <dgm:prSet/>
      <dgm:spPr/>
      <dgm:t>
        <a:bodyPr/>
        <a:lstStyle/>
        <a:p>
          <a:endParaRPr lang="de-DE"/>
        </a:p>
      </dgm:t>
    </dgm:pt>
    <dgm:pt modelId="{CBC55CF2-AD61-42B3-BD91-C62899444756}">
      <dgm:prSet/>
      <dgm:spPr/>
      <dgm:t>
        <a:bodyPr/>
        <a:lstStyle/>
        <a:p>
          <a:pPr>
            <a:lnSpc>
              <a:spcPct val="100000"/>
            </a:lnSpc>
          </a:pPr>
          <a:r>
            <a:rPr lang="en-US" dirty="0"/>
            <a:t>Default Implementations for Recorder, Logging and a command line</a:t>
          </a:r>
        </a:p>
      </dgm:t>
    </dgm:pt>
    <dgm:pt modelId="{B9C2B1DF-7ECE-4769-8079-F3EF20AA005E}" type="parTrans" cxnId="{A61D82B7-EB9F-416A-AE01-6207D7B9615D}">
      <dgm:prSet/>
      <dgm:spPr/>
      <dgm:t>
        <a:bodyPr/>
        <a:lstStyle/>
        <a:p>
          <a:endParaRPr lang="de-DE"/>
        </a:p>
      </dgm:t>
    </dgm:pt>
    <dgm:pt modelId="{49163370-01E0-4F24-A8DC-2DCC512AB05C}" type="sibTrans" cxnId="{A61D82B7-EB9F-416A-AE01-6207D7B9615D}">
      <dgm:prSet/>
      <dgm:spPr/>
      <dgm:t>
        <a:bodyPr/>
        <a:lstStyle/>
        <a:p>
          <a:endParaRPr lang="de-DE"/>
        </a:p>
      </dgm:t>
    </dgm:pt>
    <dgm:pt modelId="{6B5D2F2F-1201-4ED5-84F3-4CB38701FC2E}">
      <dgm:prSet/>
      <dgm:spPr/>
      <dgm:t>
        <a:bodyPr/>
        <a:lstStyle/>
        <a:p>
          <a:pPr>
            <a:lnSpc>
              <a:spcPct val="100000"/>
            </a:lnSpc>
          </a:pPr>
          <a:r>
            <a:rPr lang="en-US" dirty="0" err="1"/>
            <a:t>Optimisation</a:t>
          </a:r>
          <a:r>
            <a:rPr lang="en-US" dirty="0"/>
            <a:t> and testing still required</a:t>
          </a:r>
        </a:p>
      </dgm:t>
    </dgm:pt>
    <dgm:pt modelId="{6DE7FE12-59E3-47E6-90F8-DC6633A91823}" type="parTrans" cxnId="{B76EE918-4CD6-42C9-8D79-D63DE96BD591}">
      <dgm:prSet/>
      <dgm:spPr/>
      <dgm:t>
        <a:bodyPr/>
        <a:lstStyle/>
        <a:p>
          <a:endParaRPr lang="de-DE"/>
        </a:p>
      </dgm:t>
    </dgm:pt>
    <dgm:pt modelId="{024E8291-EA57-4698-A2E6-9AB23F0A25F7}" type="sibTrans" cxnId="{B76EE918-4CD6-42C9-8D79-D63DE96BD591}">
      <dgm:prSet/>
      <dgm:spPr/>
      <dgm:t>
        <a:bodyPr/>
        <a:lstStyle/>
        <a:p>
          <a:endParaRPr lang="de-DE"/>
        </a:p>
      </dgm:t>
    </dgm:pt>
    <dgm:pt modelId="{A4AD2CAF-B280-4C02-B056-D28BA3DF7857}">
      <dgm:prSet/>
      <dgm:spPr/>
      <dgm:t>
        <a:bodyPr/>
        <a:lstStyle/>
        <a:p>
          <a:pPr>
            <a:lnSpc>
              <a:spcPct val="100000"/>
            </a:lnSpc>
          </a:pPr>
          <a:r>
            <a:rPr lang="en-US" dirty="0"/>
            <a:t>Current Focus on </a:t>
          </a:r>
          <a:r>
            <a:rPr lang="en-US" dirty="0" err="1"/>
            <a:t>SpaceWire</a:t>
          </a:r>
          <a:endParaRPr lang="en-US" dirty="0"/>
        </a:p>
      </dgm:t>
    </dgm:pt>
    <dgm:pt modelId="{0A8FA188-746A-4805-AB24-C7005FEA6982}" type="parTrans" cxnId="{D59630D7-A105-452A-AA07-5D3DB4CEA488}">
      <dgm:prSet/>
      <dgm:spPr/>
      <dgm:t>
        <a:bodyPr/>
        <a:lstStyle/>
        <a:p>
          <a:endParaRPr lang="de-DE"/>
        </a:p>
      </dgm:t>
    </dgm:pt>
    <dgm:pt modelId="{17E01B49-46CE-45CC-8895-2869017CC04B}" type="sibTrans" cxnId="{D59630D7-A105-452A-AA07-5D3DB4CEA488}">
      <dgm:prSet/>
      <dgm:spPr/>
      <dgm:t>
        <a:bodyPr/>
        <a:lstStyle/>
        <a:p>
          <a:endParaRPr lang="de-DE"/>
        </a:p>
      </dgm:t>
    </dgm:pt>
    <dgm:pt modelId="{A11A828F-9959-4C5A-8BBB-6033BB998D4B}" type="pres">
      <dgm:prSet presAssocID="{CB48FC50-B9F0-4F81-9BA4-F12DD3D25512}" presName="Name0" presStyleCnt="0">
        <dgm:presLayoutVars>
          <dgm:dir/>
          <dgm:resizeHandles val="exact"/>
        </dgm:presLayoutVars>
      </dgm:prSet>
      <dgm:spPr/>
    </dgm:pt>
    <dgm:pt modelId="{3C75B7E6-EB2A-4F01-805C-A191A719C0BC}" type="pres">
      <dgm:prSet presAssocID="{F0377B86-0ABE-4BC6-8BFD-E0846A7E0211}" presName="compNode" presStyleCnt="0"/>
      <dgm:spPr/>
    </dgm:pt>
    <dgm:pt modelId="{C89DF437-E331-41E2-A80F-7972B1865DD4}" type="pres">
      <dgm:prSet presAssocID="{F0377B86-0ABE-4BC6-8BFD-E0846A7E0211}" presName="pictRect" presStyleLbl="revTx" presStyleIdx="0" presStyleCnt="6">
        <dgm:presLayoutVars>
          <dgm:chMax val="0"/>
          <dgm:bulletEnabled/>
        </dgm:presLayoutVars>
      </dgm:prSet>
      <dgm:spPr/>
    </dgm:pt>
    <dgm:pt modelId="{857040C8-E392-4748-9B56-58C24CE71A62}" type="pres">
      <dgm:prSet presAssocID="{F0377B86-0ABE-4BC6-8BFD-E0846A7E0211}" presName="textRect" presStyleLbl="revTx" presStyleIdx="1" presStyleCnt="6">
        <dgm:presLayoutVars>
          <dgm:bulletEnabled/>
        </dgm:presLayoutVars>
      </dgm:prSet>
      <dgm:spPr/>
    </dgm:pt>
    <dgm:pt modelId="{E6780025-0491-4684-B9FF-DABAAED5A40D}" type="pres">
      <dgm:prSet presAssocID="{9704C376-D1B9-4203-96A7-81D23B2F7309}" presName="sibTrans" presStyleLbl="sibTrans2D1" presStyleIdx="0" presStyleCnt="0"/>
      <dgm:spPr/>
    </dgm:pt>
    <dgm:pt modelId="{252FB640-7C73-4055-8916-BF0EBF3D36C5}" type="pres">
      <dgm:prSet presAssocID="{5BCC1C45-E2AE-4E25-9625-46DA64B0BB58}" presName="compNode" presStyleCnt="0"/>
      <dgm:spPr/>
    </dgm:pt>
    <dgm:pt modelId="{63B28035-0471-4E22-A8E7-A9CB5DE17B3D}" type="pres">
      <dgm:prSet presAssocID="{5BCC1C45-E2AE-4E25-9625-46DA64B0BB58}" presName="pictRect" presStyleLbl="revTx" presStyleIdx="2" presStyleCnt="6">
        <dgm:presLayoutVars>
          <dgm:chMax val="0"/>
          <dgm:bulletEnabled/>
        </dgm:presLayoutVars>
      </dgm:prSet>
      <dgm:spPr/>
    </dgm:pt>
    <dgm:pt modelId="{F07CE096-D060-4E42-96E4-B43D1F6D6294}" type="pres">
      <dgm:prSet presAssocID="{5BCC1C45-E2AE-4E25-9625-46DA64B0BB58}" presName="textRect" presStyleLbl="revTx" presStyleIdx="3" presStyleCnt="6">
        <dgm:presLayoutVars>
          <dgm:bulletEnabled/>
        </dgm:presLayoutVars>
      </dgm:prSet>
      <dgm:spPr/>
    </dgm:pt>
    <dgm:pt modelId="{39DA8D2D-B7D0-4B35-A230-21C415CD9C8D}" type="pres">
      <dgm:prSet presAssocID="{F1F8BA36-A496-4813-B6C0-F37BDFDCD27D}" presName="sibTrans" presStyleLbl="sibTrans2D1" presStyleIdx="0" presStyleCnt="0"/>
      <dgm:spPr/>
    </dgm:pt>
    <dgm:pt modelId="{4ADEE996-41BA-481F-8EE3-0B80067F8F33}" type="pres">
      <dgm:prSet presAssocID="{F8807FF8-FE98-4645-B87E-DBACD7C996EE}" presName="compNode" presStyleCnt="0"/>
      <dgm:spPr/>
    </dgm:pt>
    <dgm:pt modelId="{794B8C9E-2A62-4EA2-BF0B-AD280561EBCC}" type="pres">
      <dgm:prSet presAssocID="{F8807FF8-FE98-4645-B87E-DBACD7C996EE}" presName="pictRect" presStyleLbl="revTx" presStyleIdx="4" presStyleCnt="6">
        <dgm:presLayoutVars>
          <dgm:chMax val="0"/>
          <dgm:bulletEnabled/>
        </dgm:presLayoutVars>
      </dgm:prSet>
      <dgm:spPr/>
    </dgm:pt>
    <dgm:pt modelId="{D01153B9-BA14-4AA3-B5DA-2453D1C5FA73}" type="pres">
      <dgm:prSet presAssocID="{F8807FF8-FE98-4645-B87E-DBACD7C996EE}" presName="textRect" presStyleLbl="revTx" presStyleIdx="5" presStyleCnt="6">
        <dgm:presLayoutVars>
          <dgm:bulletEnabled/>
        </dgm:presLayoutVars>
      </dgm:prSet>
      <dgm:spPr/>
    </dgm:pt>
  </dgm:ptLst>
  <dgm:cxnLst>
    <dgm:cxn modelId="{48619E01-8719-4736-93AF-92B68C72FC66}" srcId="{F0377B86-0ABE-4BC6-8BFD-E0846A7E0211}" destId="{9B60C220-EAEA-47C4-916C-68D35F185695}" srcOrd="2" destOrd="0" parTransId="{C0F163E1-E851-4C8F-AE74-22D98D9033EC}" sibTransId="{CCA4E354-9132-4983-AA0B-1BA4680081AB}"/>
    <dgm:cxn modelId="{680E9406-245B-46B3-B5A3-70CFF37118EE}" type="presOf" srcId="{2DB508E6-FCEE-4080-9CBD-B4C652D8D26F}" destId="{F07CE096-D060-4E42-96E4-B43D1F6D6294}" srcOrd="0" destOrd="0" presId="urn:microsoft.com/office/officeart/2024/3/layout/hArchList1"/>
    <dgm:cxn modelId="{B76EE918-4CD6-42C9-8D79-D63DE96BD591}" srcId="{F8807FF8-FE98-4645-B87E-DBACD7C996EE}" destId="{6B5D2F2F-1201-4ED5-84F3-4CB38701FC2E}" srcOrd="1" destOrd="0" parTransId="{6DE7FE12-59E3-47E6-90F8-DC6633A91823}" sibTransId="{024E8291-EA57-4698-A2E6-9AB23F0A25F7}"/>
    <dgm:cxn modelId="{DFA8F525-24BE-4526-9E90-6D2ECC620FFA}" type="presOf" srcId="{1889E37C-FE7B-40A8-8978-28673190A8E3}" destId="{D01153B9-BA14-4AA3-B5DA-2453D1C5FA73}" srcOrd="0" destOrd="0" presId="urn:microsoft.com/office/officeart/2024/3/layout/hArchList1"/>
    <dgm:cxn modelId="{1E2AE527-8822-4251-A167-08A402AC9FDD}" srcId="{CB48FC50-B9F0-4F81-9BA4-F12DD3D25512}" destId="{5BCC1C45-E2AE-4E25-9625-46DA64B0BB58}" srcOrd="1" destOrd="0" parTransId="{D2367825-D925-4A4A-84CF-23B106FE158B}" sibTransId="{F1F8BA36-A496-4813-B6C0-F37BDFDCD27D}"/>
    <dgm:cxn modelId="{FEACEE35-6A86-4B6F-A1F2-8600D42ACAA5}" srcId="{F8807FF8-FE98-4645-B87E-DBACD7C996EE}" destId="{1889E37C-FE7B-40A8-8978-28673190A8E3}" srcOrd="0" destOrd="0" parTransId="{037A7B3C-3A32-4493-980C-7E0DEC0D804C}" sibTransId="{F11E6E64-8B11-4302-9409-40542D82490B}"/>
    <dgm:cxn modelId="{D41AF35D-046A-46B0-8FB6-1CE5B6CFBF8E}" srcId="{CB48FC50-B9F0-4F81-9BA4-F12DD3D25512}" destId="{F8807FF8-FE98-4645-B87E-DBACD7C996EE}" srcOrd="2" destOrd="0" parTransId="{726E1F5F-F207-4FAA-B51F-34E6EED58365}" sibTransId="{DFDE2079-1E40-4114-9C48-91F2D80FC520}"/>
    <dgm:cxn modelId="{39B9EF62-BB36-4B9D-BD90-7FBCB400B319}" type="presOf" srcId="{A4AD2CAF-B280-4C02-B056-D28BA3DF7857}" destId="{D01153B9-BA14-4AA3-B5DA-2453D1C5FA73}" srcOrd="0" destOrd="2" presId="urn:microsoft.com/office/officeart/2024/3/layout/hArchList1"/>
    <dgm:cxn modelId="{6F17DC65-CB56-46C1-BD17-139EFB1841F7}" type="presOf" srcId="{6B5D2F2F-1201-4ED5-84F3-4CB38701FC2E}" destId="{D01153B9-BA14-4AA3-B5DA-2453D1C5FA73}" srcOrd="0" destOrd="1" presId="urn:microsoft.com/office/officeart/2024/3/layout/hArchList1"/>
    <dgm:cxn modelId="{728A6D6B-FD6D-41D6-9B2E-8E8218F05FDE}" type="presOf" srcId="{9704C376-D1B9-4203-96A7-81D23B2F7309}" destId="{E6780025-0491-4684-B9FF-DABAAED5A40D}" srcOrd="0" destOrd="0" presId="urn:microsoft.com/office/officeart/2024/3/layout/hArchList1"/>
    <dgm:cxn modelId="{AE41804E-83C3-4183-AAFE-9F121FD9BC0B}" srcId="{F0377B86-0ABE-4BC6-8BFD-E0846A7E0211}" destId="{D0D1FD9A-56D3-424E-A78F-5CE1BD10578F}" srcOrd="0" destOrd="0" parTransId="{D2BEE56B-A59A-400A-889B-4284FB798E63}" sibTransId="{CF3DFE16-E5FA-4A33-B700-97EDD5E495E5}"/>
    <dgm:cxn modelId="{7B6F9E85-7884-4B2D-9D8F-F52760D976CB}" srcId="{5BCC1C45-E2AE-4E25-9625-46DA64B0BB58}" destId="{2DB508E6-FCEE-4080-9CBD-B4C652D8D26F}" srcOrd="0" destOrd="0" parTransId="{EDA49979-E63E-4A2C-93ED-40A60D9D39A5}" sibTransId="{A30915F3-F25A-4A1B-963E-0115BDBAFAA8}"/>
    <dgm:cxn modelId="{0C7B0F90-3583-43E2-9487-E4B98FB5E167}" type="presOf" srcId="{9B60C220-EAEA-47C4-916C-68D35F185695}" destId="{857040C8-E392-4748-9B56-58C24CE71A62}" srcOrd="0" destOrd="2" presId="urn:microsoft.com/office/officeart/2024/3/layout/hArchList1"/>
    <dgm:cxn modelId="{CADC0295-10BB-4273-B575-4702190EA0BD}" type="presOf" srcId="{90F60690-B718-4EB2-AFE2-EA0652F3390F}" destId="{857040C8-E392-4748-9B56-58C24CE71A62}" srcOrd="0" destOrd="1" presId="urn:microsoft.com/office/officeart/2024/3/layout/hArchList1"/>
    <dgm:cxn modelId="{0AF00598-A13A-4BBB-856B-585055F5633C}" type="presOf" srcId="{F8807FF8-FE98-4645-B87E-DBACD7C996EE}" destId="{794B8C9E-2A62-4EA2-BF0B-AD280561EBCC}" srcOrd="0" destOrd="0" presId="urn:microsoft.com/office/officeart/2024/3/layout/hArchList1"/>
    <dgm:cxn modelId="{AC21809E-4C99-430F-AAE2-675D23A6E8DD}" type="presOf" srcId="{CBC55CF2-AD61-42B3-BD91-C62899444756}" destId="{F07CE096-D060-4E42-96E4-B43D1F6D6294}" srcOrd="0" destOrd="1" presId="urn:microsoft.com/office/officeart/2024/3/layout/hArchList1"/>
    <dgm:cxn modelId="{A61D82B7-EB9F-416A-AE01-6207D7B9615D}" srcId="{5BCC1C45-E2AE-4E25-9625-46DA64B0BB58}" destId="{CBC55CF2-AD61-42B3-BD91-C62899444756}" srcOrd="1" destOrd="0" parTransId="{B9C2B1DF-7ECE-4769-8079-F3EF20AA005E}" sibTransId="{49163370-01E0-4F24-A8DC-2DCC512AB05C}"/>
    <dgm:cxn modelId="{F81908C4-3E3F-4E1D-A8CD-78BB80953FDD}" type="presOf" srcId="{CB48FC50-B9F0-4F81-9BA4-F12DD3D25512}" destId="{A11A828F-9959-4C5A-8BBB-6033BB998D4B}" srcOrd="0" destOrd="0" presId="urn:microsoft.com/office/officeart/2024/3/layout/hArchList1"/>
    <dgm:cxn modelId="{7CD574C4-1B82-4805-A580-7FA650AE61B9}" type="presOf" srcId="{5BCC1C45-E2AE-4E25-9625-46DA64B0BB58}" destId="{63B28035-0471-4E22-A8E7-A9CB5DE17B3D}" srcOrd="0" destOrd="0" presId="urn:microsoft.com/office/officeart/2024/3/layout/hArchList1"/>
    <dgm:cxn modelId="{0B833BC8-0899-427D-9B5E-382640130A79}" type="presOf" srcId="{D0D1FD9A-56D3-424E-A78F-5CE1BD10578F}" destId="{857040C8-E392-4748-9B56-58C24CE71A62}" srcOrd="0" destOrd="0" presId="urn:microsoft.com/office/officeart/2024/3/layout/hArchList1"/>
    <dgm:cxn modelId="{D59630D7-A105-452A-AA07-5D3DB4CEA488}" srcId="{F8807FF8-FE98-4645-B87E-DBACD7C996EE}" destId="{A4AD2CAF-B280-4C02-B056-D28BA3DF7857}" srcOrd="2" destOrd="0" parTransId="{0A8FA188-746A-4805-AB24-C7005FEA6982}" sibTransId="{17E01B49-46CE-45CC-8895-2869017CC04B}"/>
    <dgm:cxn modelId="{528EF7EB-4B15-4D9C-9B07-B072F8D141A3}" type="presOf" srcId="{F0377B86-0ABE-4BC6-8BFD-E0846A7E0211}" destId="{C89DF437-E331-41E2-A80F-7972B1865DD4}" srcOrd="0" destOrd="0" presId="urn:microsoft.com/office/officeart/2024/3/layout/hArchList1"/>
    <dgm:cxn modelId="{DE37B2EE-B0D6-4DC4-AAF7-5D1D7821B13F}" srcId="{CB48FC50-B9F0-4F81-9BA4-F12DD3D25512}" destId="{F0377B86-0ABE-4BC6-8BFD-E0846A7E0211}" srcOrd="0" destOrd="0" parTransId="{FC836556-F9CC-4E70-87DD-CD7630EBDD8A}" sibTransId="{9704C376-D1B9-4203-96A7-81D23B2F7309}"/>
    <dgm:cxn modelId="{F154DFF3-F6AC-4BD3-81A7-F8E66F651BDB}" srcId="{F0377B86-0ABE-4BC6-8BFD-E0846A7E0211}" destId="{90F60690-B718-4EB2-AFE2-EA0652F3390F}" srcOrd="1" destOrd="0" parTransId="{1D1839B6-A162-4069-AA1A-FFA673F142F7}" sibTransId="{59898A12-6063-40AF-AE5B-F89534399EEF}"/>
    <dgm:cxn modelId="{945FF6FA-FA6D-4C2B-9748-B7DE1DEF7BAC}" type="presOf" srcId="{F1F8BA36-A496-4813-B6C0-F37BDFDCD27D}" destId="{39DA8D2D-B7D0-4B35-A230-21C415CD9C8D}" srcOrd="0" destOrd="0" presId="urn:microsoft.com/office/officeart/2024/3/layout/hArchList1"/>
    <dgm:cxn modelId="{0D749BE6-85D5-4F54-AC4A-A2333AA84C4F}" type="presParOf" srcId="{A11A828F-9959-4C5A-8BBB-6033BB998D4B}" destId="{3C75B7E6-EB2A-4F01-805C-A191A719C0BC}" srcOrd="0" destOrd="0" presId="urn:microsoft.com/office/officeart/2024/3/layout/hArchList1"/>
    <dgm:cxn modelId="{C29A12B8-905A-49E2-A3E6-91C87CD14832}" type="presParOf" srcId="{3C75B7E6-EB2A-4F01-805C-A191A719C0BC}" destId="{C89DF437-E331-41E2-A80F-7972B1865DD4}" srcOrd="0" destOrd="0" presId="urn:microsoft.com/office/officeart/2024/3/layout/hArchList1"/>
    <dgm:cxn modelId="{A7B3A432-4157-4F00-85A1-4BE6DDABD7A5}" type="presParOf" srcId="{3C75B7E6-EB2A-4F01-805C-A191A719C0BC}" destId="{857040C8-E392-4748-9B56-58C24CE71A62}" srcOrd="1" destOrd="0" presId="urn:microsoft.com/office/officeart/2024/3/layout/hArchList1"/>
    <dgm:cxn modelId="{897106BB-DB5C-4CF6-BC34-4753DC59A793}" type="presParOf" srcId="{A11A828F-9959-4C5A-8BBB-6033BB998D4B}" destId="{E6780025-0491-4684-B9FF-DABAAED5A40D}" srcOrd="1" destOrd="0" presId="urn:microsoft.com/office/officeart/2024/3/layout/hArchList1"/>
    <dgm:cxn modelId="{EE254B32-4B47-4FFA-8D4B-FA12C0740E03}" type="presParOf" srcId="{A11A828F-9959-4C5A-8BBB-6033BB998D4B}" destId="{252FB640-7C73-4055-8916-BF0EBF3D36C5}" srcOrd="2" destOrd="0" presId="urn:microsoft.com/office/officeart/2024/3/layout/hArchList1"/>
    <dgm:cxn modelId="{866AE0EE-6DFE-42B8-982B-B20DD7AD2A95}" type="presParOf" srcId="{252FB640-7C73-4055-8916-BF0EBF3D36C5}" destId="{63B28035-0471-4E22-A8E7-A9CB5DE17B3D}" srcOrd="0" destOrd="0" presId="urn:microsoft.com/office/officeart/2024/3/layout/hArchList1"/>
    <dgm:cxn modelId="{7D33DB49-E4A4-4158-BC45-A468F66B56B2}" type="presParOf" srcId="{252FB640-7C73-4055-8916-BF0EBF3D36C5}" destId="{F07CE096-D060-4E42-96E4-B43D1F6D6294}" srcOrd="1" destOrd="0" presId="urn:microsoft.com/office/officeart/2024/3/layout/hArchList1"/>
    <dgm:cxn modelId="{5BE62CD4-A6E2-4067-A6A1-31367830AC92}" type="presParOf" srcId="{A11A828F-9959-4C5A-8BBB-6033BB998D4B}" destId="{39DA8D2D-B7D0-4B35-A230-21C415CD9C8D}" srcOrd="3" destOrd="0" presId="urn:microsoft.com/office/officeart/2024/3/layout/hArchList1"/>
    <dgm:cxn modelId="{3B0F085B-B2AC-47FD-B521-AB595BA5475C}" type="presParOf" srcId="{A11A828F-9959-4C5A-8BBB-6033BB998D4B}" destId="{4ADEE996-41BA-481F-8EE3-0B80067F8F33}" srcOrd="4" destOrd="0" presId="urn:microsoft.com/office/officeart/2024/3/layout/hArchList1"/>
    <dgm:cxn modelId="{1D034410-BE8F-45B5-8BDE-CC3253D38312}" type="presParOf" srcId="{4ADEE996-41BA-481F-8EE3-0B80067F8F33}" destId="{794B8C9E-2A62-4EA2-BF0B-AD280561EBCC}" srcOrd="0" destOrd="0" presId="urn:microsoft.com/office/officeart/2024/3/layout/hArchList1"/>
    <dgm:cxn modelId="{2E5294AA-9F6F-4504-9CD7-7046A0A137DF}" type="presParOf" srcId="{4ADEE996-41BA-481F-8EE3-0B80067F8F33}" destId="{D01153B9-BA14-4AA3-B5DA-2453D1C5FA73}"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9DF437-E331-41E2-A80F-7972B1865DD4}">
      <dsp:nvSpPr>
        <dsp:cNvPr id="0" name=""/>
        <dsp:cNvSpPr/>
      </dsp:nvSpPr>
      <dsp:spPr>
        <a:xfrm>
          <a:off x="0" y="0"/>
          <a:ext cx="3377565" cy="5950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Based on common open source systems</a:t>
          </a:r>
        </a:p>
      </dsp:txBody>
      <dsp:txXfrm>
        <a:off x="0" y="0"/>
        <a:ext cx="3377565" cy="595074"/>
      </dsp:txXfrm>
    </dsp:sp>
    <dsp:sp modelId="{857040C8-E392-4748-9B56-58C24CE71A62}">
      <dsp:nvSpPr>
        <dsp:cNvPr id="0" name=""/>
        <dsp:cNvSpPr/>
      </dsp:nvSpPr>
      <dsp:spPr>
        <a:xfrm>
          <a:off x="0" y="595074"/>
          <a:ext cx="3377565" cy="1892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Python 3.13</a:t>
          </a:r>
        </a:p>
        <a:p>
          <a:pPr marL="0" lvl="0" indent="0" algn="l" defTabSz="622300">
            <a:lnSpc>
              <a:spcPct val="100000"/>
            </a:lnSpc>
            <a:spcBef>
              <a:spcPct val="0"/>
            </a:spcBef>
            <a:spcAft>
              <a:spcPct val="35000"/>
            </a:spcAft>
            <a:buNone/>
          </a:pPr>
          <a:r>
            <a:rPr lang="en-US" sz="1400" kern="1200" dirty="0"/>
            <a:t>Qt 6</a:t>
          </a:r>
        </a:p>
        <a:p>
          <a:pPr marL="0" lvl="0" indent="0" algn="l" defTabSz="622300">
            <a:lnSpc>
              <a:spcPct val="100000"/>
            </a:lnSpc>
            <a:spcBef>
              <a:spcPct val="0"/>
            </a:spcBef>
            <a:spcAft>
              <a:spcPct val="35000"/>
            </a:spcAft>
            <a:buNone/>
          </a:pPr>
          <a:r>
            <a:rPr lang="en-US" sz="1400" kern="1200" dirty="0"/>
            <a:t>Linux and Windows compatible</a:t>
          </a:r>
        </a:p>
      </dsp:txBody>
      <dsp:txXfrm>
        <a:off x="0" y="595074"/>
        <a:ext cx="3377565" cy="1892815"/>
      </dsp:txXfrm>
    </dsp:sp>
    <dsp:sp modelId="{63B28035-0471-4E22-A8E7-A9CB5DE17B3D}">
      <dsp:nvSpPr>
        <dsp:cNvPr id="0" name=""/>
        <dsp:cNvSpPr/>
      </dsp:nvSpPr>
      <dsp:spPr>
        <a:xfrm>
          <a:off x="3715321" y="0"/>
          <a:ext cx="3377565" cy="5950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Modular and Extensible Design</a:t>
          </a:r>
        </a:p>
      </dsp:txBody>
      <dsp:txXfrm>
        <a:off x="3715321" y="0"/>
        <a:ext cx="3377565" cy="595074"/>
      </dsp:txXfrm>
    </dsp:sp>
    <dsp:sp modelId="{F07CE096-D060-4E42-96E4-B43D1F6D6294}">
      <dsp:nvSpPr>
        <dsp:cNvPr id="0" name=""/>
        <dsp:cNvSpPr/>
      </dsp:nvSpPr>
      <dsp:spPr>
        <a:xfrm>
          <a:off x="3715321" y="595074"/>
          <a:ext cx="3377565" cy="1892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Unlimited Parallel view of different Widgets</a:t>
          </a:r>
        </a:p>
        <a:p>
          <a:pPr marL="0" lvl="0" indent="0" algn="l" defTabSz="622300">
            <a:lnSpc>
              <a:spcPct val="100000"/>
            </a:lnSpc>
            <a:spcBef>
              <a:spcPct val="0"/>
            </a:spcBef>
            <a:spcAft>
              <a:spcPct val="35000"/>
            </a:spcAft>
            <a:buNone/>
          </a:pPr>
          <a:r>
            <a:rPr lang="en-US" sz="1400" kern="1200" dirty="0"/>
            <a:t>Default Implementations for Recorder, Logging and a command line</a:t>
          </a:r>
        </a:p>
      </dsp:txBody>
      <dsp:txXfrm>
        <a:off x="3715321" y="595074"/>
        <a:ext cx="3377565" cy="1892815"/>
      </dsp:txXfrm>
    </dsp:sp>
    <dsp:sp modelId="{794B8C9E-2A62-4EA2-BF0B-AD280561EBCC}">
      <dsp:nvSpPr>
        <dsp:cNvPr id="0" name=""/>
        <dsp:cNvSpPr/>
      </dsp:nvSpPr>
      <dsp:spPr>
        <a:xfrm>
          <a:off x="7430643" y="0"/>
          <a:ext cx="3377565" cy="5950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Heavy Development ongoing</a:t>
          </a:r>
        </a:p>
      </dsp:txBody>
      <dsp:txXfrm>
        <a:off x="7430643" y="0"/>
        <a:ext cx="3377565" cy="595074"/>
      </dsp:txXfrm>
    </dsp:sp>
    <dsp:sp modelId="{D01153B9-BA14-4AA3-B5DA-2453D1C5FA73}">
      <dsp:nvSpPr>
        <dsp:cNvPr id="0" name=""/>
        <dsp:cNvSpPr/>
      </dsp:nvSpPr>
      <dsp:spPr>
        <a:xfrm>
          <a:off x="7430643" y="595074"/>
          <a:ext cx="3377565" cy="1892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First testing versions for MPS planned in few weeks</a:t>
          </a:r>
        </a:p>
        <a:p>
          <a:pPr marL="0" lvl="0" indent="0" algn="l" defTabSz="622300">
            <a:lnSpc>
              <a:spcPct val="100000"/>
            </a:lnSpc>
            <a:spcBef>
              <a:spcPct val="0"/>
            </a:spcBef>
            <a:spcAft>
              <a:spcPct val="35000"/>
            </a:spcAft>
            <a:buNone/>
          </a:pPr>
          <a:r>
            <a:rPr lang="en-US" sz="1400" kern="1200" dirty="0" err="1"/>
            <a:t>Optimisation</a:t>
          </a:r>
          <a:r>
            <a:rPr lang="en-US" sz="1400" kern="1200" dirty="0"/>
            <a:t> and testing still required</a:t>
          </a:r>
        </a:p>
        <a:p>
          <a:pPr marL="0" lvl="0" indent="0" algn="l" defTabSz="622300">
            <a:lnSpc>
              <a:spcPct val="100000"/>
            </a:lnSpc>
            <a:spcBef>
              <a:spcPct val="0"/>
            </a:spcBef>
            <a:spcAft>
              <a:spcPct val="35000"/>
            </a:spcAft>
            <a:buNone/>
          </a:pPr>
          <a:r>
            <a:rPr lang="en-US" sz="1400" kern="1200" dirty="0"/>
            <a:t>Current Focus on </a:t>
          </a:r>
          <a:r>
            <a:rPr lang="en-US" sz="1400" kern="1200" dirty="0" err="1"/>
            <a:t>SpaceWire</a:t>
          </a:r>
          <a:endParaRPr lang="en-US" sz="1400" kern="1200" dirty="0"/>
        </a:p>
      </dsp:txBody>
      <dsp:txXfrm>
        <a:off x="7430643" y="595074"/>
        <a:ext cx="3377565" cy="1892815"/>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0E74C3-937D-4A9B-9A86-68FDB4C10AED}" type="datetimeFigureOut">
              <a:rPr lang="de-DE" smtClean="0"/>
              <a:t>11.08.2025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3E4330-C9CD-46E2-8722-34750A78AA1A}" type="slidenum">
              <a:rPr lang="de-DE" smtClean="0"/>
              <a:t>‹Nr.›</a:t>
            </a:fld>
            <a:endParaRPr lang="de-DE"/>
          </a:p>
        </p:txBody>
      </p:sp>
    </p:spTree>
    <p:extLst>
      <p:ext uri="{BB962C8B-B14F-4D97-AF65-F5344CB8AC3E}">
        <p14:creationId xmlns:p14="http://schemas.microsoft.com/office/powerpoint/2010/main" val="41657705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AI-generated content may be incorrect.
---
This presentation introduces GSpy, the ground support software developed in Python for ESA's EnVision Venus mission. We will cover its technical aspects, integration with SpaceWire hardware, protocol extension, device connectivity, and best development practices.
</a:t>
            </a:r>
          </a:p>
        </p:txBody>
      </p:sp>
      <p:sp>
        <p:nvSpPr>
          <p:cNvPr id="4" name="Foliennummernplatzhalter 3"/>
          <p:cNvSpPr>
            <a:spLocks noGrp="1"/>
          </p:cNvSpPr>
          <p:nvPr>
            <p:ph type="sldNum" sz="quarter" idx="5"/>
          </p:nvPr>
        </p:nvSpPr>
        <p:spPr/>
        <p:txBody>
          <a:bodyPr/>
          <a:lstStyle/>
          <a:p>
            <a:fld id="{CF22A817-B1AD-41E8-8821-D58B2A9D1531}" type="slidenum">
              <a:rPr lang="de-DE" smtClean="0"/>
              <a:t>1</a:t>
            </a:fld>
            <a:endParaRPr lang="de-DE"/>
          </a:p>
        </p:txBody>
      </p:sp>
    </p:spTree>
    <p:extLst>
      <p:ext uri="{BB962C8B-B14F-4D97-AF65-F5344CB8AC3E}">
        <p14:creationId xmlns:p14="http://schemas.microsoft.com/office/powerpoint/2010/main" val="13682485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
---
We will look at the technical overview of GSpy software, its integration with SpaceWire test equipment, how to extend GSpy by adding new protocol services, connecting and testing with SpaceWire devices, and conclude with best practices and development guidelines.
Image source: Microsoft 365 content library
</a:t>
            </a:r>
          </a:p>
        </p:txBody>
      </p:sp>
      <p:sp>
        <p:nvSpPr>
          <p:cNvPr id="4" name="Foliennummernplatzhalter 3"/>
          <p:cNvSpPr>
            <a:spLocks noGrp="1"/>
          </p:cNvSpPr>
          <p:nvPr>
            <p:ph type="sldNum" sz="quarter" idx="5"/>
          </p:nvPr>
        </p:nvSpPr>
        <p:spPr/>
        <p:txBody>
          <a:bodyPr/>
          <a:lstStyle/>
          <a:p>
            <a:fld id="{CF22A817-B1AD-41E8-8821-D58B2A9D1531}" type="slidenum">
              <a:rPr lang="de-DE" smtClean="0"/>
              <a:t>2</a:t>
            </a:fld>
            <a:endParaRPr lang="de-DE"/>
          </a:p>
        </p:txBody>
      </p:sp>
    </p:spTree>
    <p:extLst>
      <p:ext uri="{BB962C8B-B14F-4D97-AF65-F5344CB8AC3E}">
        <p14:creationId xmlns:p14="http://schemas.microsoft.com/office/powerpoint/2010/main" val="21007318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This section provides an overview of GSpy software, including its purpose for the EnVision mission, key technologies such as Python and PyQt6, and its architecture with main features.</a:t>
            </a:r>
          </a:p>
        </p:txBody>
      </p:sp>
      <p:sp>
        <p:nvSpPr>
          <p:cNvPr id="4" name="Foliennummernplatzhalter 3"/>
          <p:cNvSpPr>
            <a:spLocks noGrp="1"/>
          </p:cNvSpPr>
          <p:nvPr>
            <p:ph type="sldNum" sz="quarter" idx="5"/>
          </p:nvPr>
        </p:nvSpPr>
        <p:spPr/>
        <p:txBody>
          <a:bodyPr/>
          <a:lstStyle/>
          <a:p>
            <a:fld id="{CF22A817-B1AD-41E8-8821-D58B2A9D1531}" type="slidenum">
              <a:rPr lang="de-DE" smtClean="0"/>
              <a:t>3</a:t>
            </a:fld>
            <a:endParaRPr lang="de-DE"/>
          </a:p>
        </p:txBody>
      </p:sp>
    </p:spTree>
    <p:extLst>
      <p:ext uri="{BB962C8B-B14F-4D97-AF65-F5344CB8AC3E}">
        <p14:creationId xmlns:p14="http://schemas.microsoft.com/office/powerpoint/2010/main" val="41496956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
---
GSpy is developed primarily in Python leveraging the PyQt6 framework for its graphical user interface, providing a flexible and powerful environment for application development and user interaction.
Image source: Microsoft 365 content library
</a:t>
            </a:r>
          </a:p>
        </p:txBody>
      </p:sp>
      <p:sp>
        <p:nvSpPr>
          <p:cNvPr id="4" name="Foliennummernplatzhalter 3"/>
          <p:cNvSpPr>
            <a:spLocks noGrp="1"/>
          </p:cNvSpPr>
          <p:nvPr>
            <p:ph type="sldNum" sz="quarter" idx="5"/>
          </p:nvPr>
        </p:nvSpPr>
        <p:spPr/>
        <p:txBody>
          <a:bodyPr/>
          <a:lstStyle/>
          <a:p>
            <a:fld id="{CF22A817-B1AD-41E8-8821-D58B2A9D1531}" type="slidenum">
              <a:rPr lang="de-DE" smtClean="0"/>
              <a:t>4</a:t>
            </a:fld>
            <a:endParaRPr lang="de-DE"/>
          </a:p>
        </p:txBody>
      </p:sp>
    </p:spTree>
    <p:extLst>
      <p:ext uri="{BB962C8B-B14F-4D97-AF65-F5344CB8AC3E}">
        <p14:creationId xmlns:p14="http://schemas.microsoft.com/office/powerpoint/2010/main" val="11098696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
---
GSpy supports connection with hardware like GRESB and SpaceWire Brick Mk4, enabling communication and testing over SpaceWire links essential for mission equipment validation.
Image source: Microsoft 365 content library
</a:t>
            </a:r>
          </a:p>
        </p:txBody>
      </p:sp>
      <p:sp>
        <p:nvSpPr>
          <p:cNvPr id="4" name="Foliennummernplatzhalter 3"/>
          <p:cNvSpPr>
            <a:spLocks noGrp="1"/>
          </p:cNvSpPr>
          <p:nvPr>
            <p:ph type="sldNum" sz="quarter" idx="5"/>
          </p:nvPr>
        </p:nvSpPr>
        <p:spPr/>
        <p:txBody>
          <a:bodyPr/>
          <a:lstStyle/>
          <a:p>
            <a:fld id="{CF22A817-B1AD-41E8-8821-D58B2A9D1531}" type="slidenum">
              <a:rPr lang="de-DE" smtClean="0"/>
              <a:t>5</a:t>
            </a:fld>
            <a:endParaRPr lang="de-DE"/>
          </a:p>
        </p:txBody>
      </p:sp>
    </p:spTree>
    <p:extLst>
      <p:ext uri="{BB962C8B-B14F-4D97-AF65-F5344CB8AC3E}">
        <p14:creationId xmlns:p14="http://schemas.microsoft.com/office/powerpoint/2010/main" val="33856486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
---
The communication workflow involves data transmission and reception between GSpy and the test hardware, managing protocol packets and ensuring accurate data flow for analysis and debugging.
Image source: Microsoft 365 content library
</a:t>
            </a:r>
          </a:p>
        </p:txBody>
      </p:sp>
      <p:sp>
        <p:nvSpPr>
          <p:cNvPr id="4" name="Foliennummernplatzhalter 3"/>
          <p:cNvSpPr>
            <a:spLocks noGrp="1"/>
          </p:cNvSpPr>
          <p:nvPr>
            <p:ph type="sldNum" sz="quarter" idx="5"/>
          </p:nvPr>
        </p:nvSpPr>
        <p:spPr/>
        <p:txBody>
          <a:bodyPr/>
          <a:lstStyle/>
          <a:p>
            <a:fld id="{CF22A817-B1AD-41E8-8821-D58B2A9D1531}" type="slidenum">
              <a:rPr lang="de-DE" smtClean="0"/>
              <a:t>6</a:t>
            </a:fld>
            <a:endParaRPr lang="de-DE"/>
          </a:p>
        </p:txBody>
      </p:sp>
    </p:spTree>
    <p:extLst>
      <p:ext uri="{BB962C8B-B14F-4D97-AF65-F5344CB8AC3E}">
        <p14:creationId xmlns:p14="http://schemas.microsoft.com/office/powerpoint/2010/main" val="177399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Here we cover the process of extending GSpy by adding protocol services, including identifying requirements, designing views with Qt Designer, and implementing backend logic in Python.</a:t>
            </a:r>
          </a:p>
        </p:txBody>
      </p:sp>
      <p:sp>
        <p:nvSpPr>
          <p:cNvPr id="4" name="Foliennummernplatzhalter 3"/>
          <p:cNvSpPr>
            <a:spLocks noGrp="1"/>
          </p:cNvSpPr>
          <p:nvPr>
            <p:ph type="sldNum" sz="quarter" idx="5"/>
          </p:nvPr>
        </p:nvSpPr>
        <p:spPr/>
        <p:txBody>
          <a:bodyPr/>
          <a:lstStyle/>
          <a:p>
            <a:fld id="{CF22A817-B1AD-41E8-8821-D58B2A9D1531}" type="slidenum">
              <a:rPr lang="de-DE" smtClean="0"/>
              <a:t>7</a:t>
            </a:fld>
            <a:endParaRPr lang="de-DE"/>
          </a:p>
        </p:txBody>
      </p:sp>
    </p:spTree>
    <p:extLst>
      <p:ext uri="{BB962C8B-B14F-4D97-AF65-F5344CB8AC3E}">
        <p14:creationId xmlns:p14="http://schemas.microsoft.com/office/powerpoint/2010/main" val="18040740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
---
Qt Designer is used to create user interface components visually, allowing developers to design new protocol views rapidly with drag-and-drop widgets and layout management.
Image source: Microsoft 365 content library
</a:t>
            </a:r>
          </a:p>
        </p:txBody>
      </p:sp>
      <p:sp>
        <p:nvSpPr>
          <p:cNvPr id="4" name="Foliennummernplatzhalter 3"/>
          <p:cNvSpPr>
            <a:spLocks noGrp="1"/>
          </p:cNvSpPr>
          <p:nvPr>
            <p:ph type="sldNum" sz="quarter" idx="5"/>
          </p:nvPr>
        </p:nvSpPr>
        <p:spPr/>
        <p:txBody>
          <a:bodyPr/>
          <a:lstStyle/>
          <a:p>
            <a:fld id="{CF22A817-B1AD-41E8-8821-D58B2A9D1531}" type="slidenum">
              <a:rPr lang="de-DE" smtClean="0"/>
              <a:t>8</a:t>
            </a:fld>
            <a:endParaRPr lang="de-DE"/>
          </a:p>
        </p:txBody>
      </p:sp>
    </p:spTree>
    <p:extLst>
      <p:ext uri="{BB962C8B-B14F-4D97-AF65-F5344CB8AC3E}">
        <p14:creationId xmlns:p14="http://schemas.microsoft.com/office/powerpoint/2010/main" val="9304328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
---
The backend logic involves coding the protocol behavior, data processing, and integration with existing GSpy modules, ensuring seamless operation of the new protocol service.
Image source: Microsoft 365 content library
</a:t>
            </a:r>
          </a:p>
        </p:txBody>
      </p:sp>
      <p:sp>
        <p:nvSpPr>
          <p:cNvPr id="4" name="Foliennummernplatzhalter 3"/>
          <p:cNvSpPr>
            <a:spLocks noGrp="1"/>
          </p:cNvSpPr>
          <p:nvPr>
            <p:ph type="sldNum" sz="quarter" idx="5"/>
          </p:nvPr>
        </p:nvSpPr>
        <p:spPr/>
        <p:txBody>
          <a:bodyPr/>
          <a:lstStyle/>
          <a:p>
            <a:fld id="{CF22A817-B1AD-41E8-8821-D58B2A9D1531}" type="slidenum">
              <a:rPr lang="de-DE" smtClean="0"/>
              <a:t>9</a:t>
            </a:fld>
            <a:endParaRPr lang="de-DE"/>
          </a:p>
        </p:txBody>
      </p:sp>
    </p:spTree>
    <p:extLst>
      <p:ext uri="{BB962C8B-B14F-4D97-AF65-F5344CB8AC3E}">
        <p14:creationId xmlns:p14="http://schemas.microsoft.com/office/powerpoint/2010/main" val="33998851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GSpy is a critical tool supporting ESA’s EnVision Venus mission, offering advanced features for SpaceWire communication testing. Its modular design and extensibility allow adaptation to evolving mission needs, supported by best development practices.</a:t>
            </a:r>
          </a:p>
        </p:txBody>
      </p:sp>
      <p:sp>
        <p:nvSpPr>
          <p:cNvPr id="4" name="Foliennummernplatzhalter 3"/>
          <p:cNvSpPr>
            <a:spLocks noGrp="1"/>
          </p:cNvSpPr>
          <p:nvPr>
            <p:ph type="sldNum" sz="quarter" idx="5"/>
          </p:nvPr>
        </p:nvSpPr>
        <p:spPr/>
        <p:txBody>
          <a:bodyPr/>
          <a:lstStyle/>
          <a:p>
            <a:fld id="{CF22A817-B1AD-41E8-8821-D58B2A9D1531}" type="slidenum">
              <a:rPr lang="de-DE" smtClean="0"/>
              <a:t>10</a:t>
            </a:fld>
            <a:endParaRPr lang="de-DE"/>
          </a:p>
        </p:txBody>
      </p:sp>
    </p:spTree>
    <p:extLst>
      <p:ext uri="{BB962C8B-B14F-4D97-AF65-F5344CB8AC3E}">
        <p14:creationId xmlns:p14="http://schemas.microsoft.com/office/powerpoint/2010/main" val="3849063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Image source: Microsoft 365 content library
Identify which development steps require detailed tutorial documentation for users. Discuss features that are currently missing from the concept and gather additional feedback for improvement. Consider the needs of other partners involved, focusing on required resources, support, or integrations to ensure successful collaboration.</a:t>
            </a:r>
          </a:p>
        </p:txBody>
      </p:sp>
      <p:sp>
        <p:nvSpPr>
          <p:cNvPr id="4" name="Foliennummernplatzhalter 3"/>
          <p:cNvSpPr>
            <a:spLocks noGrp="1"/>
          </p:cNvSpPr>
          <p:nvPr>
            <p:ph type="sldNum" sz="quarter" idx="5"/>
          </p:nvPr>
        </p:nvSpPr>
        <p:spPr/>
        <p:txBody>
          <a:bodyPr/>
          <a:lstStyle/>
          <a:p>
            <a:fld id="{9D3E4330-C9CD-46E2-8722-34750A78AA1A}" type="slidenum">
              <a:rPr lang="de-DE" smtClean="0"/>
              <a:t>11</a:t>
            </a:fld>
            <a:endParaRPr lang="de-DE"/>
          </a:p>
        </p:txBody>
      </p:sp>
    </p:spTree>
    <p:extLst>
      <p:ext uri="{BB962C8B-B14F-4D97-AF65-F5344CB8AC3E}">
        <p14:creationId xmlns:p14="http://schemas.microsoft.com/office/powerpoint/2010/main" val="10296227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8/11/2025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‹Nr.›</a:t>
            </a:fld>
            <a:endParaRPr lang="en-US"/>
          </a:p>
        </p:txBody>
      </p:sp>
    </p:spTree>
    <p:extLst>
      <p:ext uri="{BB962C8B-B14F-4D97-AF65-F5344CB8AC3E}">
        <p14:creationId xmlns:p14="http://schemas.microsoft.com/office/powerpoint/2010/main" val="5915025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8/11/2025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‹Nr.›</a:t>
            </a:fld>
            <a:endParaRPr lang="en-US"/>
          </a:p>
        </p:txBody>
      </p:sp>
    </p:spTree>
    <p:extLst>
      <p:ext uri="{BB962C8B-B14F-4D97-AF65-F5344CB8AC3E}">
        <p14:creationId xmlns:p14="http://schemas.microsoft.com/office/powerpoint/2010/main" val="3947636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8/11/2025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‹Nr.›</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6328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8/11/2025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‹Nr.›</a:t>
            </a:fld>
            <a:endParaRPr lang="en-US"/>
          </a:p>
        </p:txBody>
      </p:sp>
    </p:spTree>
    <p:extLst>
      <p:ext uri="{BB962C8B-B14F-4D97-AF65-F5344CB8AC3E}">
        <p14:creationId xmlns:p14="http://schemas.microsoft.com/office/powerpoint/2010/main" val="4694051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8/11/2025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‹Nr.›</a:t>
            </a:fld>
            <a:endParaRPr lang="en-US"/>
          </a:p>
        </p:txBody>
      </p:sp>
    </p:spTree>
    <p:extLst>
      <p:ext uri="{BB962C8B-B14F-4D97-AF65-F5344CB8AC3E}">
        <p14:creationId xmlns:p14="http://schemas.microsoft.com/office/powerpoint/2010/main" val="14081369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8/11/2025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‹Nr.›</a:t>
            </a:fld>
            <a:endParaRPr lang="en-US"/>
          </a:p>
        </p:txBody>
      </p:sp>
    </p:spTree>
    <p:extLst>
      <p:ext uri="{BB962C8B-B14F-4D97-AF65-F5344CB8AC3E}">
        <p14:creationId xmlns:p14="http://schemas.microsoft.com/office/powerpoint/2010/main" val="21628955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8/11/2025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‹Nr.›</a:t>
            </a:fld>
            <a:endParaRPr lang="en-US"/>
          </a:p>
        </p:txBody>
      </p:sp>
    </p:spTree>
    <p:extLst>
      <p:ext uri="{BB962C8B-B14F-4D97-AF65-F5344CB8AC3E}">
        <p14:creationId xmlns:p14="http://schemas.microsoft.com/office/powerpoint/2010/main" val="3925979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8/11/2025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‹Nr.›</a:t>
            </a:fld>
            <a:endParaRPr lang="en-US"/>
          </a:p>
        </p:txBody>
      </p:sp>
    </p:spTree>
    <p:extLst>
      <p:ext uri="{BB962C8B-B14F-4D97-AF65-F5344CB8AC3E}">
        <p14:creationId xmlns:p14="http://schemas.microsoft.com/office/powerpoint/2010/main" val="877562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8/11/2025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‹Nr.›</a:t>
            </a:fld>
            <a:endParaRPr lang="en-US"/>
          </a:p>
        </p:txBody>
      </p:sp>
    </p:spTree>
    <p:extLst>
      <p:ext uri="{BB962C8B-B14F-4D97-AF65-F5344CB8AC3E}">
        <p14:creationId xmlns:p14="http://schemas.microsoft.com/office/powerpoint/2010/main" val="20219975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8/11/2025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‹Nr.›</a:t>
            </a:fld>
            <a:endParaRPr lang="en-US"/>
          </a:p>
        </p:txBody>
      </p:sp>
    </p:spTree>
    <p:extLst>
      <p:ext uri="{BB962C8B-B14F-4D97-AF65-F5344CB8AC3E}">
        <p14:creationId xmlns:p14="http://schemas.microsoft.com/office/powerpoint/2010/main" val="971548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8/11/2025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‹Nr.›</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5578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8/11/2025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‹Nr.›</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67023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44EA1451-8330-A264-1F5D-AD58D385F2D5}"/>
              </a:ext>
            </a:extLst>
          </p:cNvPr>
          <p:cNvSpPr>
            <a:spLocks noGrp="1"/>
          </p:cNvSpPr>
          <p:nvPr>
            <p:ph type="ctrTitle"/>
          </p:nvPr>
        </p:nvSpPr>
        <p:spPr>
          <a:xfrm>
            <a:off x="1946564" y="1249217"/>
            <a:ext cx="8298873" cy="2258284"/>
          </a:xfrm>
        </p:spPr>
        <p:txBody>
          <a:bodyPr anchor="b">
            <a:normAutofit/>
          </a:bodyPr>
          <a:lstStyle/>
          <a:p>
            <a:pPr algn="ctr">
              <a:lnSpc>
                <a:spcPct val="90000"/>
              </a:lnSpc>
            </a:pPr>
            <a:r>
              <a:rPr lang="de-DE" sz="3600" dirty="0" err="1"/>
              <a:t>GSpy</a:t>
            </a:r>
            <a:r>
              <a:rPr lang="de-DE" sz="3600" dirty="0"/>
              <a:t>: Ground Support Python Software </a:t>
            </a:r>
            <a:r>
              <a:rPr lang="de-DE" sz="3600" dirty="0" err="1"/>
              <a:t>for</a:t>
            </a:r>
            <a:r>
              <a:rPr lang="de-DE" sz="3600" dirty="0"/>
              <a:t> </a:t>
            </a:r>
            <a:r>
              <a:rPr lang="de-DE" sz="3600" dirty="0" err="1"/>
              <a:t>ESA’s</a:t>
            </a:r>
            <a:r>
              <a:rPr lang="de-DE" sz="3600" dirty="0"/>
              <a:t> </a:t>
            </a:r>
            <a:r>
              <a:rPr lang="de-DE" sz="3600" dirty="0" err="1"/>
              <a:t>EnVision</a:t>
            </a:r>
            <a:r>
              <a:rPr lang="de-DE" sz="3600" dirty="0"/>
              <a:t> Venus Mission – </a:t>
            </a:r>
          </a:p>
        </p:txBody>
      </p:sp>
      <p:cxnSp>
        <p:nvCxnSpPr>
          <p:cNvPr id="10" name="Straight Connector 9">
            <a:extLst>
              <a:ext uri="{FF2B5EF4-FFF2-40B4-BE49-F238E27FC236}">
                <a16:creationId xmlns:a16="http://schemas.microsoft.com/office/drawing/2014/main" id="{5E10C1D6-7EDE-467F-89EA-E0244EB623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30240" y="4290504"/>
            <a:ext cx="73152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5" name="Untertitel 4">
            <a:extLst>
              <a:ext uri="{FF2B5EF4-FFF2-40B4-BE49-F238E27FC236}">
                <a16:creationId xmlns:a16="http://schemas.microsoft.com/office/drawing/2014/main" id="{A74B4ECB-0528-D6FE-6DF1-647558D50D93}"/>
              </a:ext>
            </a:extLst>
          </p:cNvPr>
          <p:cNvSpPr>
            <a:spLocks noGrp="1"/>
          </p:cNvSpPr>
          <p:nvPr>
            <p:ph type="subTitle" idx="1"/>
          </p:nvPr>
        </p:nvSpPr>
        <p:spPr/>
        <p:txBody>
          <a:bodyPr/>
          <a:lstStyle/>
          <a:p>
            <a:r>
              <a:rPr lang="de-DE" dirty="0"/>
              <a:t>Technical </a:t>
            </a:r>
            <a:r>
              <a:rPr lang="de-DE" dirty="0" err="1"/>
              <a:t>Introduction</a:t>
            </a:r>
            <a:r>
              <a:rPr lang="de-DE" dirty="0"/>
              <a:t> and Protocol Extension Walkthrough</a:t>
            </a:r>
          </a:p>
        </p:txBody>
      </p:sp>
    </p:spTree>
    <p:extLst>
      <p:ext uri="{BB962C8B-B14F-4D97-AF65-F5344CB8AC3E}">
        <p14:creationId xmlns:p14="http://schemas.microsoft.com/office/powerpoint/2010/main" val="275574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B0D79944-3E51-E0FA-0453-50C0407BCE5C}"/>
              </a:ext>
            </a:extLst>
          </p:cNvPr>
          <p:cNvSpPr>
            <a:spLocks noGrp="1"/>
          </p:cNvSpPr>
          <p:nvPr>
            <p:ph type="title"/>
          </p:nvPr>
        </p:nvSpPr>
        <p:spPr>
          <a:xfrm>
            <a:off x="7269904" y="914400"/>
            <a:ext cx="4261104" cy="1097280"/>
          </a:xfrm>
        </p:spPr>
        <p:txBody>
          <a:bodyPr vert="horz" lIns="91440" tIns="45720" rIns="91440" bIns="45720" rtlCol="0" anchor="t">
            <a:normAutofit/>
          </a:bodyPr>
          <a:lstStyle/>
          <a:p>
            <a:r>
              <a:rPr lang="en-US" sz="3600"/>
              <a:t>Agenda Overview</a:t>
            </a:r>
          </a:p>
        </p:txBody>
      </p:sp>
      <p:pic>
        <p:nvPicPr>
          <p:cNvPr id="5" name="Inhaltsplatzhalter 4">
            <a:extLst>
              <a:ext uri="{FF2B5EF4-FFF2-40B4-BE49-F238E27FC236}">
                <a16:creationId xmlns:a16="http://schemas.microsoft.com/office/drawing/2014/main" id="{C43D250C-8622-4413-A1F1-32C2C136071D}"/>
              </a:ext>
            </a:extLst>
          </p:cNvPr>
          <p:cNvPicPr>
            <a:picLocks noGrp="1" noChangeAspect="1"/>
          </p:cNvPicPr>
          <p:nvPr>
            <p:ph sz="half" idx="1"/>
          </p:nvPr>
        </p:nvPicPr>
        <p:blipFill rotWithShape="1">
          <a:blip r:embed="rId3">
            <a:extLst>
              <a:ext uri="{28A0092B-C50C-407E-A947-70E740481C1C}">
                <a14:useLocalDpi xmlns:a14="http://schemas.microsoft.com/office/drawing/2010/main" val="0"/>
              </a:ext>
            </a:extLst>
          </a:blip>
          <a:srcRect l="-12177" r="-12177"/>
          <a:stretch>
            <a:fillRect/>
          </a:stretch>
        </p:blipFill>
        <p:spPr>
          <a:xfrm>
            <a:off x="817282" y="1658566"/>
            <a:ext cx="4818568" cy="3874918"/>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665683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Inhaltsplatzhalter 3">
            <a:extLst>
              <a:ext uri="{FF2B5EF4-FFF2-40B4-BE49-F238E27FC236}">
                <a16:creationId xmlns:a16="http://schemas.microsoft.com/office/drawing/2014/main" id="{B119739A-35A5-6F7F-0D9E-3236606E8DAA}"/>
              </a:ext>
            </a:extLst>
          </p:cNvPr>
          <p:cNvSpPr>
            <a:spLocks noGrp="1"/>
          </p:cNvSpPr>
          <p:nvPr>
            <p:ph sz="half" idx="2"/>
            <p:extLst>
              <p:ext uri="{E7BDC344-281C-4309-B0C6-D0EE65EED2A8}">
                <p202:designPr xmlns:p202="http://schemas.microsoft.com/office/powerpoint/2020/02/main">
                  <p202:designTagLst>
                    <p202:designTag name="ARCH:1:CLS" val="BulletedText"/>
                  </p202:designTagLst>
                </p202:designPr>
              </p:ext>
            </p:extLst>
          </p:nvPr>
        </p:nvSpPr>
        <p:spPr>
          <a:xfrm>
            <a:off x="7269905" y="2176036"/>
            <a:ext cx="4261104" cy="4121887"/>
          </a:xfrm>
        </p:spPr>
        <p:txBody>
          <a:bodyPr vert="horz" lIns="91440" tIns="45720" rIns="91440" bIns="45720" rtlCol="0">
            <a:normAutofit/>
          </a:bodyPr>
          <a:lstStyle/>
          <a:p>
            <a:pPr>
              <a:lnSpc>
                <a:spcPct val="110000"/>
              </a:lnSpc>
            </a:pPr>
            <a:r>
              <a:rPr lang="en-US" dirty="0"/>
              <a:t>Technical Overview of </a:t>
            </a:r>
            <a:r>
              <a:rPr lang="en-US" dirty="0" err="1"/>
              <a:t>GSpy</a:t>
            </a:r>
            <a:r>
              <a:rPr lang="en-US" dirty="0"/>
              <a:t> Software</a:t>
            </a:r>
          </a:p>
          <a:p>
            <a:pPr>
              <a:lnSpc>
                <a:spcPct val="110000"/>
              </a:lnSpc>
            </a:pPr>
            <a:r>
              <a:rPr lang="en-US" dirty="0"/>
              <a:t>Integration with </a:t>
            </a:r>
            <a:r>
              <a:rPr lang="en-US" dirty="0" err="1"/>
              <a:t>SpaceWire</a:t>
            </a:r>
            <a:r>
              <a:rPr lang="en-US" dirty="0"/>
              <a:t> Test Equipment</a:t>
            </a:r>
          </a:p>
          <a:p>
            <a:pPr>
              <a:lnSpc>
                <a:spcPct val="110000"/>
              </a:lnSpc>
            </a:pPr>
            <a:r>
              <a:rPr lang="en-US" dirty="0"/>
              <a:t>Extending </a:t>
            </a:r>
            <a:r>
              <a:rPr lang="en-US" dirty="0" err="1"/>
              <a:t>GSpy</a:t>
            </a:r>
            <a:r>
              <a:rPr lang="en-US" dirty="0"/>
              <a:t>: Adding a New Protocol Service</a:t>
            </a:r>
          </a:p>
          <a:p>
            <a:pPr>
              <a:lnSpc>
                <a:spcPct val="110000"/>
              </a:lnSpc>
            </a:pPr>
            <a:r>
              <a:rPr lang="en-US" dirty="0"/>
              <a:t>Connecting to and Testing with </a:t>
            </a:r>
            <a:r>
              <a:rPr lang="en-US" dirty="0" err="1"/>
              <a:t>SpaceWire</a:t>
            </a:r>
            <a:r>
              <a:rPr lang="en-US" dirty="0"/>
              <a:t> Devices</a:t>
            </a:r>
          </a:p>
        </p:txBody>
      </p:sp>
    </p:spTree>
    <p:extLst>
      <p:ext uri="{BB962C8B-B14F-4D97-AF65-F5344CB8AC3E}">
        <p14:creationId xmlns:p14="http://schemas.microsoft.com/office/powerpoint/2010/main" val="9820461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el 1">
            <a:extLst>
              <a:ext uri="{FF2B5EF4-FFF2-40B4-BE49-F238E27FC236}">
                <a16:creationId xmlns:a16="http://schemas.microsoft.com/office/drawing/2014/main" id="{69ADA8D0-C3CE-66AA-290C-6847F268F99C}"/>
              </a:ext>
            </a:extLst>
          </p:cNvPr>
          <p:cNvSpPr>
            <a:spLocks noGrp="1"/>
          </p:cNvSpPr>
          <p:nvPr>
            <p:ph type="ctrTitle"/>
          </p:nvPr>
        </p:nvSpPr>
        <p:spPr>
          <a:xfrm>
            <a:off x="559219" y="1115844"/>
            <a:ext cx="7680960" cy="4631911"/>
          </a:xfrm>
        </p:spPr>
        <p:txBody>
          <a:bodyPr anchor="b">
            <a:normAutofit/>
          </a:bodyPr>
          <a:lstStyle/>
          <a:p>
            <a:r>
              <a:rPr lang="de-DE" sz="6500"/>
              <a:t>Technical Overview of GSpy Software</a:t>
            </a:r>
          </a:p>
        </p:txBody>
      </p:sp>
      <p:cxnSp>
        <p:nvCxnSpPr>
          <p:cNvPr id="11" name="Straight Connector 10">
            <a:extLst>
              <a:ext uri="{FF2B5EF4-FFF2-40B4-BE49-F238E27FC236}">
                <a16:creationId xmlns:a16="http://schemas.microsoft.com/office/drawing/2014/main" id="{53C0BBAA-A5EC-5D5D-32E6-9F7EA60484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131" y="6268313"/>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57390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519B8610-B186-E7E8-A26C-E11BA43E746B}"/>
              </a:ext>
            </a:extLst>
          </p:cNvPr>
          <p:cNvSpPr>
            <a:spLocks noGrp="1"/>
          </p:cNvSpPr>
          <p:nvPr>
            <p:ph type="title"/>
          </p:nvPr>
        </p:nvSpPr>
        <p:spPr>
          <a:xfrm>
            <a:off x="640079" y="914400"/>
            <a:ext cx="4261104" cy="1097280"/>
          </a:xfrm>
        </p:spPr>
        <p:txBody>
          <a:bodyPr vert="horz" lIns="91440" tIns="45720" rIns="91440" bIns="45720" rtlCol="0" anchor="t">
            <a:normAutofit/>
          </a:bodyPr>
          <a:lstStyle/>
          <a:p>
            <a:pPr>
              <a:lnSpc>
                <a:spcPct val="90000"/>
              </a:lnSpc>
            </a:pPr>
            <a:r>
              <a:rPr lang="en-US" sz="3600"/>
              <a:t>Key Technologies: Python and PyQt6</a:t>
            </a:r>
          </a:p>
        </p:txBody>
      </p:sp>
      <p:sp>
        <p:nvSpPr>
          <p:cNvPr id="4" name="Inhaltsplatzhalter 3">
            <a:extLst>
              <a:ext uri="{FF2B5EF4-FFF2-40B4-BE49-F238E27FC236}">
                <a16:creationId xmlns:a16="http://schemas.microsoft.com/office/drawing/2014/main" id="{1C5470FC-C268-6B43-1462-631E41E70456}"/>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79" y="2176036"/>
            <a:ext cx="4261104" cy="4121887"/>
          </a:xfrm>
        </p:spPr>
        <p:txBody>
          <a:bodyPr>
            <a:normAutofit fontScale="92500" lnSpcReduction="20000"/>
          </a:bodyPr>
          <a:lstStyle/>
          <a:p>
            <a:pPr marL="0" indent="0">
              <a:spcBef>
                <a:spcPts val="2500"/>
              </a:spcBef>
              <a:buFont typeface="Arial" panose="020B0604020202020204" pitchFamily="34" charset="0"/>
              <a:buNone/>
            </a:pPr>
            <a:r>
              <a:rPr lang="en-US" b="1" dirty="0"/>
              <a:t>Python Programming Language</a:t>
            </a:r>
          </a:p>
          <a:p>
            <a:pPr marL="0" indent="0">
              <a:spcBef>
                <a:spcPts val="2500"/>
              </a:spcBef>
              <a:buFont typeface="Arial" panose="020B0604020202020204" pitchFamily="34" charset="0"/>
              <a:buNone/>
            </a:pPr>
            <a:r>
              <a:rPr lang="en-US" b="1" dirty="0"/>
              <a:t>PyQt6 Framework</a:t>
            </a:r>
          </a:p>
          <a:p>
            <a:pPr marL="0" indent="0">
              <a:spcBef>
                <a:spcPts val="2500"/>
              </a:spcBef>
              <a:buFont typeface="Arial" panose="020B0604020202020204" pitchFamily="34" charset="0"/>
              <a:buNone/>
            </a:pPr>
            <a:r>
              <a:rPr lang="en-US" b="1" dirty="0"/>
              <a:t>Flexible GUI</a:t>
            </a:r>
          </a:p>
          <a:p>
            <a:pPr marL="0" indent="0">
              <a:spcBef>
                <a:spcPts val="2500"/>
              </a:spcBef>
              <a:buFont typeface="Arial" panose="020B0604020202020204" pitchFamily="34" charset="0"/>
              <a:buNone/>
            </a:pPr>
            <a:r>
              <a:rPr lang="en-US" b="1" dirty="0"/>
              <a:t>Compatible with Windows and Linux</a:t>
            </a:r>
          </a:p>
          <a:p>
            <a:pPr marL="0" indent="0">
              <a:spcBef>
                <a:spcPts val="2500"/>
              </a:spcBef>
              <a:buFont typeface="Arial" panose="020B0604020202020204" pitchFamily="34" charset="0"/>
              <a:buNone/>
            </a:pPr>
            <a:r>
              <a:rPr lang="en-US" b="1" dirty="0"/>
              <a:t>Easily Extensible through plugin system</a:t>
            </a:r>
          </a:p>
          <a:p>
            <a:pPr marL="0" indent="0">
              <a:spcBef>
                <a:spcPts val="2500"/>
              </a:spcBef>
              <a:buFont typeface="Arial" panose="020B0604020202020204" pitchFamily="34" charset="0"/>
              <a:buNone/>
            </a:pPr>
            <a:r>
              <a:rPr lang="en-US" b="1" dirty="0"/>
              <a:t>Build-in support for Recorder, Logging and Command Line</a:t>
            </a:r>
          </a:p>
        </p:txBody>
      </p:sp>
      <p:cxnSp>
        <p:nvCxnSpPr>
          <p:cNvPr id="14" name="Straight Connector 13">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672328" y="6267921"/>
            <a:ext cx="6519672" cy="2"/>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3" name="Grafik 2" descr="Ein Bild, das Text, Screenshot, Zahl, Software enthält.&#10;&#10;KI-generierte Inhalte können fehlerhaft sein.">
            <a:extLst>
              <a:ext uri="{FF2B5EF4-FFF2-40B4-BE49-F238E27FC236}">
                <a16:creationId xmlns:a16="http://schemas.microsoft.com/office/drawing/2014/main" id="{5C035DE5-5FFF-2663-3935-3B8DC70CCA66}"/>
              </a:ext>
            </a:extLst>
          </p:cNvPr>
          <p:cNvPicPr>
            <a:picLocks noChangeAspect="1"/>
          </p:cNvPicPr>
          <p:nvPr/>
        </p:nvPicPr>
        <p:blipFill>
          <a:blip r:embed="rId3"/>
          <a:stretch>
            <a:fillRect/>
          </a:stretch>
        </p:blipFill>
        <p:spPr>
          <a:xfrm>
            <a:off x="5492150" y="1823528"/>
            <a:ext cx="6196643" cy="3354718"/>
          </a:xfrm>
          <a:prstGeom prst="rect">
            <a:avLst/>
          </a:prstGeom>
        </p:spPr>
      </p:pic>
    </p:spTree>
    <p:extLst>
      <p:ext uri="{BB962C8B-B14F-4D97-AF65-F5344CB8AC3E}">
        <p14:creationId xmlns:p14="http://schemas.microsoft.com/office/powerpoint/2010/main" val="17780876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21" name="Rectangle 20">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D2C889D2-1A90-FB1E-8333-4970EE3F5FD3}"/>
              </a:ext>
            </a:extLst>
          </p:cNvPr>
          <p:cNvSpPr>
            <a:spLocks noGrp="1"/>
          </p:cNvSpPr>
          <p:nvPr>
            <p:ph type="title"/>
          </p:nvPr>
        </p:nvSpPr>
        <p:spPr>
          <a:xfrm>
            <a:off x="640080" y="1371600"/>
            <a:ext cx="5737859" cy="1097280"/>
          </a:xfrm>
        </p:spPr>
        <p:txBody>
          <a:bodyPr vert="horz" lIns="91440" tIns="45720" rIns="91440" bIns="45720" rtlCol="0" anchor="t">
            <a:normAutofit/>
          </a:bodyPr>
          <a:lstStyle/>
          <a:p>
            <a:r>
              <a:rPr lang="en-US"/>
              <a:t>Supported Hardware</a:t>
            </a:r>
          </a:p>
        </p:txBody>
      </p:sp>
      <p:cxnSp>
        <p:nvCxnSpPr>
          <p:cNvPr id="23" name="Straight Connector 22">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Inhaltsplatzhalter 3">
            <a:extLst>
              <a:ext uri="{FF2B5EF4-FFF2-40B4-BE49-F238E27FC236}">
                <a16:creationId xmlns:a16="http://schemas.microsoft.com/office/drawing/2014/main" id="{9A69BB6C-FCF8-8E47-397B-F045D6358526}"/>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80" y="2633236"/>
            <a:ext cx="5737860" cy="3666980"/>
          </a:xfrm>
        </p:spPr>
        <p:txBody>
          <a:bodyPr>
            <a:normAutofit/>
          </a:bodyPr>
          <a:lstStyle/>
          <a:p>
            <a:pPr marL="0" indent="0">
              <a:spcBef>
                <a:spcPts val="2500"/>
              </a:spcBef>
              <a:buFont typeface="Arial" panose="020B0604020202020204" pitchFamily="34" charset="0"/>
              <a:buNone/>
            </a:pPr>
            <a:r>
              <a:rPr lang="de-DE" b="1" dirty="0"/>
              <a:t>GRESB Hardware Support</a:t>
            </a:r>
          </a:p>
          <a:p>
            <a:pPr marL="0" indent="0">
              <a:spcBef>
                <a:spcPts val="2500"/>
              </a:spcBef>
              <a:buFont typeface="Arial" panose="020B0604020202020204" pitchFamily="34" charset="0"/>
              <a:buNone/>
            </a:pPr>
            <a:r>
              <a:rPr lang="de-DE" b="1" dirty="0" err="1"/>
              <a:t>SpaceWire</a:t>
            </a:r>
            <a:r>
              <a:rPr lang="de-DE" b="1" dirty="0"/>
              <a:t> Brick Mk4 Integration</a:t>
            </a:r>
          </a:p>
          <a:p>
            <a:pPr marL="0" indent="0">
              <a:spcBef>
                <a:spcPts val="2500"/>
              </a:spcBef>
              <a:buFont typeface="Arial" panose="020B0604020202020204" pitchFamily="34" charset="0"/>
              <a:buNone/>
            </a:pPr>
            <a:r>
              <a:rPr lang="de-DE" b="1" dirty="0"/>
              <a:t>Laboratory Power Supply</a:t>
            </a:r>
          </a:p>
          <a:p>
            <a:pPr marL="0" indent="0">
              <a:spcBef>
                <a:spcPts val="2500"/>
              </a:spcBef>
              <a:buFont typeface="Arial" panose="020B0604020202020204" pitchFamily="34" charset="0"/>
              <a:buNone/>
            </a:pPr>
            <a:r>
              <a:rPr lang="de-DE" b="1" dirty="0"/>
              <a:t>(</a:t>
            </a:r>
            <a:r>
              <a:rPr lang="de-DE" b="1" dirty="0" err="1"/>
              <a:t>Shimafuji</a:t>
            </a:r>
            <a:r>
              <a:rPr lang="de-DE" b="1" dirty="0"/>
              <a:t> Space Wire)</a:t>
            </a:r>
          </a:p>
          <a:p>
            <a:pPr marL="0" indent="0">
              <a:spcBef>
                <a:spcPts val="2500"/>
              </a:spcBef>
              <a:buFont typeface="Arial" panose="020B0604020202020204" pitchFamily="34" charset="0"/>
              <a:buNone/>
            </a:pPr>
            <a:r>
              <a:rPr lang="de-DE" b="1" dirty="0"/>
              <a:t>(Onyx SPI)</a:t>
            </a:r>
          </a:p>
          <a:p>
            <a:pPr marL="0" indent="0">
              <a:spcBef>
                <a:spcPts val="2500"/>
              </a:spcBef>
              <a:buFont typeface="Arial" panose="020B0604020202020204" pitchFamily="34" charset="0"/>
              <a:buNone/>
            </a:pPr>
            <a:endParaRPr lang="de-DE" sz="1400" b="1" dirty="0"/>
          </a:p>
        </p:txBody>
      </p:sp>
      <p:pic>
        <p:nvPicPr>
          <p:cNvPr id="5" name="Inhaltsplatzhalter 4">
            <a:extLst>
              <a:ext uri="{FF2B5EF4-FFF2-40B4-BE49-F238E27FC236}">
                <a16:creationId xmlns:a16="http://schemas.microsoft.com/office/drawing/2014/main" id="{ED1794EF-2E9C-4DB9-B3B0-4F86B1E027CC}"/>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rcRect l="22542" r="22542"/>
          <a:stretch/>
        </p:blipFill>
        <p:spPr>
          <a:xfrm>
            <a:off x="7155179" y="981426"/>
            <a:ext cx="4375829" cy="5318790"/>
          </a:xfrm>
          <a:prstGeom prst="rect">
            <a:avLst/>
          </a:prstGeom>
        </p:spPr>
      </p:pic>
    </p:spTree>
    <p:extLst>
      <p:ext uri="{BB962C8B-B14F-4D97-AF65-F5344CB8AC3E}">
        <p14:creationId xmlns:p14="http://schemas.microsoft.com/office/powerpoint/2010/main" val="12676324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3EF4E154-7256-249F-00D0-1F76796DF451}"/>
              </a:ext>
            </a:extLst>
          </p:cNvPr>
          <p:cNvSpPr>
            <a:spLocks noGrp="1"/>
          </p:cNvSpPr>
          <p:nvPr>
            <p:ph type="title"/>
          </p:nvPr>
        </p:nvSpPr>
        <p:spPr>
          <a:xfrm>
            <a:off x="640080" y="914400"/>
            <a:ext cx="6291472" cy="1097280"/>
          </a:xfrm>
        </p:spPr>
        <p:txBody>
          <a:bodyPr vert="horz" lIns="91440" tIns="45720" rIns="91440" bIns="45720" rtlCol="0" anchor="t">
            <a:normAutofit/>
          </a:bodyPr>
          <a:lstStyle/>
          <a:p>
            <a:pPr>
              <a:lnSpc>
                <a:spcPct val="90000"/>
              </a:lnSpc>
            </a:pPr>
            <a:r>
              <a:rPr lang="en-US" sz="3400" dirty="0"/>
              <a:t>Communication Workflow and Data Flow</a:t>
            </a:r>
          </a:p>
        </p:txBody>
      </p:sp>
      <p:sp>
        <p:nvSpPr>
          <p:cNvPr id="4" name="Inhaltsplatzhalter 3">
            <a:extLst>
              <a:ext uri="{FF2B5EF4-FFF2-40B4-BE49-F238E27FC236}">
                <a16:creationId xmlns:a16="http://schemas.microsoft.com/office/drawing/2014/main" id="{753231FE-4DD8-10C0-90BC-E78C47290075}"/>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80" y="2176036"/>
            <a:ext cx="6291472" cy="4123944"/>
          </a:xfrm>
        </p:spPr>
        <p:txBody>
          <a:bodyPr>
            <a:normAutofit/>
          </a:bodyPr>
          <a:lstStyle/>
          <a:p>
            <a:pPr marL="0" indent="0">
              <a:spcBef>
                <a:spcPts val="2500"/>
              </a:spcBef>
              <a:buFont typeface="Arial" panose="020B0604020202020204" pitchFamily="34" charset="0"/>
              <a:buNone/>
            </a:pPr>
            <a:r>
              <a:rPr lang="en-US" sz="1800" b="1" dirty="0"/>
              <a:t>Unified </a:t>
            </a:r>
            <a:r>
              <a:rPr lang="en-US" sz="1800" b="1" dirty="0" err="1"/>
              <a:t>SpaceWire</a:t>
            </a:r>
            <a:r>
              <a:rPr lang="en-US" sz="1800" b="1" dirty="0"/>
              <a:t> Interface for all </a:t>
            </a:r>
            <a:r>
              <a:rPr lang="en-US" sz="1800" b="1" dirty="0" err="1"/>
              <a:t>SpaceWire</a:t>
            </a:r>
            <a:r>
              <a:rPr lang="en-US" sz="1800" b="1" dirty="0"/>
              <a:t> devices</a:t>
            </a:r>
            <a:endParaRPr lang="en-US" sz="1800" dirty="0"/>
          </a:p>
          <a:p>
            <a:pPr marL="0" indent="0">
              <a:spcBef>
                <a:spcPts val="2500"/>
              </a:spcBef>
              <a:buFont typeface="Arial" panose="020B0604020202020204" pitchFamily="34" charset="0"/>
              <a:buNone/>
            </a:pPr>
            <a:r>
              <a:rPr lang="en-US" sz="1800" b="1" dirty="0"/>
              <a:t>Architecture allows multiple listeners for each </a:t>
            </a:r>
            <a:r>
              <a:rPr lang="en-US" sz="1800" b="1" dirty="0" err="1"/>
              <a:t>SpaceWire</a:t>
            </a:r>
            <a:r>
              <a:rPr lang="en-US" sz="1800" b="1" dirty="0"/>
              <a:t> interface</a:t>
            </a:r>
          </a:p>
          <a:p>
            <a:pPr marL="0" indent="0">
              <a:spcBef>
                <a:spcPts val="2500"/>
              </a:spcBef>
              <a:buFont typeface="Arial" panose="020B0604020202020204" pitchFamily="34" charset="0"/>
              <a:buNone/>
            </a:pPr>
            <a:r>
              <a:rPr lang="en-US" sz="1800" b="1" dirty="0"/>
              <a:t>Integrated Recorder for all actions and packets, incl. Replay</a:t>
            </a:r>
          </a:p>
          <a:p>
            <a:pPr marL="0" indent="0">
              <a:spcBef>
                <a:spcPts val="2500"/>
              </a:spcBef>
              <a:buFont typeface="Arial" panose="020B0604020202020204" pitchFamily="34" charset="0"/>
              <a:buNone/>
            </a:pPr>
            <a:r>
              <a:rPr lang="en-US" sz="1800" b="1" dirty="0"/>
              <a:t>Currently custom recorder format</a:t>
            </a:r>
          </a:p>
        </p:txBody>
      </p:sp>
      <p:pic>
        <p:nvPicPr>
          <p:cNvPr id="5" name="Inhaltsplatzhalter 4" descr="Computer Network optimization and internet technology abstract digital concept">
            <a:extLst>
              <a:ext uri="{FF2B5EF4-FFF2-40B4-BE49-F238E27FC236}">
                <a16:creationId xmlns:a16="http://schemas.microsoft.com/office/drawing/2014/main" id="{67768AC8-2554-4B58-A32A-713683D0353B}"/>
              </a:ext>
            </a:extLst>
          </p:cNvPr>
          <p:cNvPicPr>
            <a:picLocks noGrp="1" noChangeAspect="1"/>
          </p:cNvPicPr>
          <p:nvPr>
            <p:ph sz="half" idx="1"/>
          </p:nvPr>
        </p:nvPicPr>
        <p:blipFill>
          <a:blip r:embed="rId3"/>
          <a:srcRect l="21825" r="16371"/>
          <a:stretch>
            <a:fillRect/>
          </a:stretch>
        </p:blipFill>
        <p:spPr>
          <a:xfrm>
            <a:off x="7776429" y="914400"/>
            <a:ext cx="4414591" cy="5357106"/>
          </a:xfrm>
          <a:prstGeom prst="rect">
            <a:avLst/>
          </a:prstGeom>
        </p:spPr>
      </p:pic>
      <p:cxnSp>
        <p:nvCxnSpPr>
          <p:cNvPr id="14" name="Straight Connector 13">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774468" y="6271515"/>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41824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el 1">
            <a:extLst>
              <a:ext uri="{FF2B5EF4-FFF2-40B4-BE49-F238E27FC236}">
                <a16:creationId xmlns:a16="http://schemas.microsoft.com/office/drawing/2014/main" id="{B7CFE240-1436-1562-5931-D9A427A05BCA}"/>
              </a:ext>
            </a:extLst>
          </p:cNvPr>
          <p:cNvSpPr>
            <a:spLocks noGrp="1"/>
          </p:cNvSpPr>
          <p:nvPr>
            <p:ph type="ctrTitle"/>
          </p:nvPr>
        </p:nvSpPr>
        <p:spPr>
          <a:xfrm>
            <a:off x="559219" y="1115844"/>
            <a:ext cx="7680960" cy="4631911"/>
          </a:xfrm>
        </p:spPr>
        <p:txBody>
          <a:bodyPr anchor="b">
            <a:normAutofit/>
          </a:bodyPr>
          <a:lstStyle/>
          <a:p>
            <a:r>
              <a:rPr lang="de-DE" sz="6500"/>
              <a:t>Extending GSpy: Adding a New Protocol Service</a:t>
            </a:r>
          </a:p>
        </p:txBody>
      </p:sp>
      <p:cxnSp>
        <p:nvCxnSpPr>
          <p:cNvPr id="11" name="Straight Connector 10">
            <a:extLst>
              <a:ext uri="{FF2B5EF4-FFF2-40B4-BE49-F238E27FC236}">
                <a16:creationId xmlns:a16="http://schemas.microsoft.com/office/drawing/2014/main" id="{53C0BBAA-A5EC-5D5D-32E6-9F7EA60484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131" y="6268313"/>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31765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21" name="Rectangle 20">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70357D0D-3FA6-BF0D-C641-ACFC90A87BF2}"/>
              </a:ext>
            </a:extLst>
          </p:cNvPr>
          <p:cNvSpPr>
            <a:spLocks noGrp="1"/>
          </p:cNvSpPr>
          <p:nvPr>
            <p:ph type="title"/>
          </p:nvPr>
        </p:nvSpPr>
        <p:spPr>
          <a:xfrm>
            <a:off x="8719126" y="979051"/>
            <a:ext cx="2811879" cy="1807048"/>
          </a:xfrm>
        </p:spPr>
        <p:txBody>
          <a:bodyPr vert="horz" lIns="91440" tIns="45720" rIns="91440" bIns="45720" rtlCol="0" anchor="b">
            <a:normAutofit/>
          </a:bodyPr>
          <a:lstStyle/>
          <a:p>
            <a:pPr>
              <a:lnSpc>
                <a:spcPct val="90000"/>
              </a:lnSpc>
            </a:pPr>
            <a:r>
              <a:rPr lang="en-US" sz="3100"/>
              <a:t>Designing a New View with Qt Designer</a:t>
            </a:r>
          </a:p>
        </p:txBody>
      </p:sp>
      <p:pic>
        <p:nvPicPr>
          <p:cNvPr id="5" name="Inhaltsplatzhalter 4">
            <a:extLst>
              <a:ext uri="{FF2B5EF4-FFF2-40B4-BE49-F238E27FC236}">
                <a16:creationId xmlns:a16="http://schemas.microsoft.com/office/drawing/2014/main" id="{2326A6DF-2B89-4161-A88D-CE1C561CC275}"/>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rcRect b="1424"/>
          <a:stretch>
            <a:fillRect/>
          </a:stretch>
        </p:blipFill>
        <p:spPr>
          <a:xfrm>
            <a:off x="20" y="535709"/>
            <a:ext cx="8229580" cy="5820640"/>
          </a:xfrm>
          <a:prstGeom prst="rect">
            <a:avLst/>
          </a:prstGeom>
        </p:spPr>
      </p:pic>
      <p:cxnSp>
        <p:nvCxnSpPr>
          <p:cNvPr id="23" name="Straight Connector 22">
            <a:extLst>
              <a:ext uri="{FF2B5EF4-FFF2-40B4-BE49-F238E27FC236}">
                <a16:creationId xmlns:a16="http://schemas.microsoft.com/office/drawing/2014/main" id="{02C7985C-B0C3-CC50-E86A-B5EBA40E01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 y="6359240"/>
            <a:ext cx="82296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Inhaltsplatzhalter 3">
            <a:extLst>
              <a:ext uri="{FF2B5EF4-FFF2-40B4-BE49-F238E27FC236}">
                <a16:creationId xmlns:a16="http://schemas.microsoft.com/office/drawing/2014/main" id="{2D4B09FD-C9C6-E171-F4C8-23ACA95CEBC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719128" y="2922624"/>
            <a:ext cx="2811880" cy="3409950"/>
          </a:xfrm>
        </p:spPr>
        <p:txBody>
          <a:bodyPr>
            <a:normAutofit/>
          </a:bodyPr>
          <a:lstStyle/>
          <a:p>
            <a:pPr marL="0" indent="0">
              <a:spcBef>
                <a:spcPts val="2500"/>
              </a:spcBef>
              <a:buFont typeface="Arial" panose="020B0604020202020204" pitchFamily="34" charset="0"/>
              <a:buNone/>
            </a:pPr>
            <a:r>
              <a:rPr lang="de-DE" sz="1400" b="1" dirty="0"/>
              <a:t>Visual Interface </a:t>
            </a:r>
            <a:r>
              <a:rPr lang="de-DE" sz="1400" b="1" dirty="0" err="1"/>
              <a:t>Creation</a:t>
            </a:r>
            <a:endParaRPr lang="de-DE" sz="1400" b="1" dirty="0"/>
          </a:p>
          <a:p>
            <a:pPr marL="0" indent="0">
              <a:spcBef>
                <a:spcPts val="2500"/>
              </a:spcBef>
              <a:buFont typeface="Arial" panose="020B0604020202020204" pitchFamily="34" charset="0"/>
              <a:buNone/>
            </a:pPr>
            <a:r>
              <a:rPr lang="de-DE" sz="1400" b="1" dirty="0"/>
              <a:t>Extensive </a:t>
            </a:r>
            <a:r>
              <a:rPr lang="de-DE" sz="1400" b="1" dirty="0" err="1"/>
              <a:t>library</a:t>
            </a:r>
            <a:r>
              <a:rPr lang="de-DE" sz="1400" b="1" dirty="0"/>
              <a:t> of possible </a:t>
            </a:r>
            <a:r>
              <a:rPr lang="de-DE" sz="1400" b="1" dirty="0" err="1"/>
              <a:t>elements</a:t>
            </a:r>
            <a:endParaRPr lang="de-DE" sz="1400" b="1" dirty="0"/>
          </a:p>
          <a:p>
            <a:pPr marL="0" indent="0">
              <a:spcBef>
                <a:spcPts val="2500"/>
              </a:spcBef>
              <a:buFont typeface="Arial" panose="020B0604020202020204" pitchFamily="34" charset="0"/>
              <a:buNone/>
            </a:pPr>
            <a:r>
              <a:rPr lang="de-DE" sz="1400" b="1" dirty="0"/>
              <a:t>Large </a:t>
            </a:r>
            <a:r>
              <a:rPr lang="de-DE" sz="1400" b="1" dirty="0" err="1"/>
              <a:t>number</a:t>
            </a:r>
            <a:r>
              <a:rPr lang="de-DE" sz="1400" b="1" dirty="0"/>
              <a:t> of </a:t>
            </a:r>
            <a:r>
              <a:rPr lang="de-DE" sz="1400" b="1" dirty="0" err="1"/>
              <a:t>custimization</a:t>
            </a:r>
            <a:r>
              <a:rPr lang="de-DE" sz="1400" b="1" dirty="0"/>
              <a:t> </a:t>
            </a:r>
            <a:r>
              <a:rPr lang="de-DE" sz="1400" b="1" dirty="0" err="1"/>
              <a:t>options</a:t>
            </a:r>
            <a:endParaRPr lang="de-DE" sz="1400" b="1" dirty="0"/>
          </a:p>
        </p:txBody>
      </p:sp>
    </p:spTree>
    <p:extLst>
      <p:ext uri="{BB962C8B-B14F-4D97-AF65-F5344CB8AC3E}">
        <p14:creationId xmlns:p14="http://schemas.microsoft.com/office/powerpoint/2010/main" val="18618251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C493FE15-FF5E-AEAE-466E-3E6132B583D6}"/>
              </a:ext>
            </a:extLst>
          </p:cNvPr>
          <p:cNvSpPr>
            <a:spLocks noGrp="1"/>
          </p:cNvSpPr>
          <p:nvPr>
            <p:ph type="title"/>
          </p:nvPr>
        </p:nvSpPr>
        <p:spPr>
          <a:xfrm>
            <a:off x="4786008" y="705254"/>
            <a:ext cx="5694409" cy="1101793"/>
          </a:xfrm>
        </p:spPr>
        <p:txBody>
          <a:bodyPr vert="horz" lIns="91440" tIns="45720" rIns="91440" bIns="45720" rtlCol="0" anchor="b">
            <a:normAutofit/>
          </a:bodyPr>
          <a:lstStyle/>
          <a:p>
            <a:pPr>
              <a:lnSpc>
                <a:spcPct val="90000"/>
              </a:lnSpc>
            </a:pPr>
            <a:r>
              <a:rPr lang="en-US" sz="3100" dirty="0"/>
              <a:t>Implementing the Python Backend Logic</a:t>
            </a:r>
          </a:p>
        </p:txBody>
      </p:sp>
      <p:pic>
        <p:nvPicPr>
          <p:cNvPr id="5" name="Inhaltsplatzhalter 4">
            <a:extLst>
              <a:ext uri="{FF2B5EF4-FFF2-40B4-BE49-F238E27FC236}">
                <a16:creationId xmlns:a16="http://schemas.microsoft.com/office/drawing/2014/main" id="{018BC30E-81DB-40E4-BB15-D4683AFF3B33}"/>
              </a:ext>
            </a:extLst>
          </p:cNvPr>
          <p:cNvPicPr>
            <a:picLocks noGrp="1" noChangeAspect="1"/>
          </p:cNvPicPr>
          <p:nvPr>
            <p:ph sz="half" idx="1"/>
          </p:nvPr>
        </p:nvPicPr>
        <p:blipFill rotWithShape="1">
          <a:blip r:embed="rId3">
            <a:extLst>
              <a:ext uri="{28A0092B-C50C-407E-A947-70E740481C1C}">
                <a14:useLocalDpi xmlns:a14="http://schemas.microsoft.com/office/drawing/2010/main" val="0"/>
              </a:ext>
            </a:extLst>
          </a:blip>
          <a:srcRect l="-5278" r="-7532"/>
          <a:stretch>
            <a:fillRect/>
          </a:stretch>
        </p:blipFill>
        <p:spPr>
          <a:xfrm>
            <a:off x="408561" y="457396"/>
            <a:ext cx="4377447" cy="5820640"/>
          </a:xfrm>
          <a:prstGeom prst="rect">
            <a:avLst/>
          </a:prstGeom>
        </p:spPr>
      </p:pic>
      <p:cxnSp>
        <p:nvCxnSpPr>
          <p:cNvPr id="14" name="Straight Connector 13">
            <a:extLst>
              <a:ext uri="{FF2B5EF4-FFF2-40B4-BE49-F238E27FC236}">
                <a16:creationId xmlns:a16="http://schemas.microsoft.com/office/drawing/2014/main" id="{02C7985C-B0C3-CC50-E86A-B5EBA40E01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 y="6359240"/>
            <a:ext cx="82296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Inhaltsplatzhalter 3">
            <a:extLst>
              <a:ext uri="{FF2B5EF4-FFF2-40B4-BE49-F238E27FC236}">
                <a16:creationId xmlns:a16="http://schemas.microsoft.com/office/drawing/2014/main" id="{DE9D0C1E-D12F-25C9-2195-E44E9F2264B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66974" y="2065121"/>
            <a:ext cx="6674893" cy="1548705"/>
          </a:xfrm>
        </p:spPr>
        <p:txBody>
          <a:bodyPr>
            <a:normAutofit/>
          </a:bodyPr>
          <a:lstStyle/>
          <a:p>
            <a:pPr marL="0" indent="0">
              <a:lnSpc>
                <a:spcPct val="110000"/>
              </a:lnSpc>
              <a:spcBef>
                <a:spcPts val="2500"/>
              </a:spcBef>
              <a:buFont typeface="Arial" panose="020B0604020202020204" pitchFamily="34" charset="0"/>
              <a:buNone/>
            </a:pPr>
            <a:r>
              <a:rPr lang="en-US" sz="1600" b="1" dirty="0"/>
              <a:t>Actions from GUI available as Qt Slots</a:t>
            </a:r>
          </a:p>
          <a:p>
            <a:pPr marL="0" indent="0">
              <a:lnSpc>
                <a:spcPct val="110000"/>
              </a:lnSpc>
              <a:spcBef>
                <a:spcPts val="2500"/>
              </a:spcBef>
              <a:buFont typeface="Arial" panose="020B0604020202020204" pitchFamily="34" charset="0"/>
              <a:buNone/>
            </a:pPr>
            <a:r>
              <a:rPr lang="en-US" sz="1600" b="1" dirty="0"/>
              <a:t>Output to recorder and GUI</a:t>
            </a:r>
          </a:p>
          <a:p>
            <a:pPr marL="0" indent="0">
              <a:lnSpc>
                <a:spcPct val="110000"/>
              </a:lnSpc>
              <a:spcBef>
                <a:spcPts val="2500"/>
              </a:spcBef>
              <a:buFont typeface="Arial" panose="020B0604020202020204" pitchFamily="34" charset="0"/>
              <a:buNone/>
            </a:pPr>
            <a:r>
              <a:rPr lang="en-US" sz="1600" b="1" dirty="0"/>
              <a:t>Decode binary messages</a:t>
            </a:r>
          </a:p>
        </p:txBody>
      </p:sp>
      <p:pic>
        <p:nvPicPr>
          <p:cNvPr id="3" name="Grafik 2">
            <a:extLst>
              <a:ext uri="{FF2B5EF4-FFF2-40B4-BE49-F238E27FC236}">
                <a16:creationId xmlns:a16="http://schemas.microsoft.com/office/drawing/2014/main" id="{8CFB0BEC-3318-4CDF-44D3-FB77EDAD3F88}"/>
              </a:ext>
            </a:extLst>
          </p:cNvPr>
          <p:cNvPicPr>
            <a:picLocks noChangeAspect="1"/>
          </p:cNvPicPr>
          <p:nvPr/>
        </p:nvPicPr>
        <p:blipFill>
          <a:blip r:embed="rId4"/>
          <a:stretch>
            <a:fillRect/>
          </a:stretch>
        </p:blipFill>
        <p:spPr>
          <a:xfrm>
            <a:off x="7434542" y="2884250"/>
            <a:ext cx="4465427" cy="2976951"/>
          </a:xfrm>
          <a:prstGeom prst="rect">
            <a:avLst/>
          </a:prstGeom>
        </p:spPr>
      </p:pic>
    </p:spTree>
    <p:extLst>
      <p:ext uri="{BB962C8B-B14F-4D97-AF65-F5344CB8AC3E}">
        <p14:creationId xmlns:p14="http://schemas.microsoft.com/office/powerpoint/2010/main" val="4046717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el 1">
            <a:extLst>
              <a:ext uri="{FF2B5EF4-FFF2-40B4-BE49-F238E27FC236}">
                <a16:creationId xmlns:a16="http://schemas.microsoft.com/office/drawing/2014/main" id="{5232964E-0176-212A-84D5-7549CC58D097}"/>
              </a:ext>
            </a:extLst>
          </p:cNvPr>
          <p:cNvSpPr>
            <a:spLocks noGrp="1"/>
          </p:cNvSpPr>
          <p:nvPr>
            <p:ph type="title"/>
          </p:nvPr>
        </p:nvSpPr>
        <p:spPr>
          <a:xfrm>
            <a:off x="640079" y="1572768"/>
            <a:ext cx="8162176" cy="1406993"/>
          </a:xfrm>
        </p:spPr>
        <p:txBody>
          <a:bodyPr anchor="b">
            <a:normAutofit/>
          </a:bodyPr>
          <a:lstStyle/>
          <a:p>
            <a:r>
              <a:rPr lang="de-DE" sz="6000"/>
              <a:t>Conclusion</a:t>
            </a:r>
          </a:p>
        </p:txBody>
      </p:sp>
      <p:graphicFrame>
        <p:nvGraphicFramePr>
          <p:cNvPr id="11" name="Inhaltsplatzhalter 2">
            <a:extLst>
              <a:ext uri="{FF2B5EF4-FFF2-40B4-BE49-F238E27FC236}">
                <a16:creationId xmlns:a16="http://schemas.microsoft.com/office/drawing/2014/main" id="{210D114B-CC27-F39F-6EEE-91AB3BA01F57}"/>
              </a:ext>
            </a:extLst>
          </p:cNvPr>
          <p:cNvGraphicFramePr>
            <a:graphicFrameLocks noGrp="1"/>
          </p:cNvGraphicFramePr>
          <p:nvPr>
            <p:ph idx="1"/>
            <p:extLst>
              <p:ext uri="{D42A27DB-BD31-4B8C-83A1-F6EECF244321}">
                <p14:modId xmlns:p14="http://schemas.microsoft.com/office/powerpoint/2010/main" val="2650826676"/>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640078" y="3593592"/>
          <a:ext cx="10808208" cy="2514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0" name="Straight Connector 9">
            <a:extLst>
              <a:ext uri="{FF2B5EF4-FFF2-40B4-BE49-F238E27FC236}">
                <a16:creationId xmlns:a16="http://schemas.microsoft.com/office/drawing/2014/main" id="{F21FC8CC-145C-8745-889B-6521F9CCB62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3256965"/>
            <a:ext cx="978862"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265028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91668CF6-C5AB-F59F-BCAD-F3D564C4E51A}"/>
              </a:ext>
            </a:extLst>
          </p:cNvPr>
          <p:cNvSpPr>
            <a:spLocks noGrp="1"/>
          </p:cNvSpPr>
          <p:nvPr>
            <p:ph type="title"/>
          </p:nvPr>
        </p:nvSpPr>
        <p:spPr>
          <a:xfrm>
            <a:off x="640080" y="1371600"/>
            <a:ext cx="5737859" cy="1097280"/>
          </a:xfrm>
        </p:spPr>
        <p:txBody>
          <a:bodyPr vert="horz" lIns="91440" tIns="45720" rIns="91440" bIns="45720" rtlCol="0" anchor="t">
            <a:normAutofit/>
          </a:bodyPr>
          <a:lstStyle/>
          <a:p>
            <a:r>
              <a:rPr lang="en-US"/>
              <a:t>Key Discussion Points</a:t>
            </a:r>
          </a:p>
        </p:txBody>
      </p:sp>
      <p:cxnSp>
        <p:nvCxnSpPr>
          <p:cNvPr id="14" name="Straight Connector 13">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Inhaltsplatzhalter 3">
            <a:extLst>
              <a:ext uri="{FF2B5EF4-FFF2-40B4-BE49-F238E27FC236}">
                <a16:creationId xmlns:a16="http://schemas.microsoft.com/office/drawing/2014/main" id="{5B8665A7-CC24-8F53-E17F-A2ADCFDA9254}"/>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80" y="2633236"/>
            <a:ext cx="5737860" cy="3666980"/>
          </a:xfrm>
        </p:spPr>
        <p:txBody>
          <a:bodyPr>
            <a:normAutofit/>
          </a:bodyPr>
          <a:lstStyle/>
          <a:p>
            <a:pPr marL="0" indent="0">
              <a:spcBef>
                <a:spcPts val="2500"/>
              </a:spcBef>
              <a:buFont typeface="Arial" panose="020B0604020202020204" pitchFamily="34" charset="0"/>
              <a:buNone/>
            </a:pPr>
            <a:r>
              <a:rPr lang="en-US" b="1" dirty="0"/>
              <a:t>Required functionality</a:t>
            </a:r>
          </a:p>
          <a:p>
            <a:pPr marL="0" indent="0">
              <a:spcBef>
                <a:spcPts val="2500"/>
              </a:spcBef>
              <a:buFont typeface="Arial" panose="020B0604020202020204" pitchFamily="34" charset="0"/>
              <a:buNone/>
            </a:pPr>
            <a:r>
              <a:rPr lang="en-US" b="1" dirty="0"/>
              <a:t>Format of development documentation</a:t>
            </a:r>
          </a:p>
          <a:p>
            <a:pPr marL="0" indent="0">
              <a:spcBef>
                <a:spcPts val="2500"/>
              </a:spcBef>
              <a:buFont typeface="Arial" panose="020B0604020202020204" pitchFamily="34" charset="0"/>
              <a:buNone/>
            </a:pPr>
            <a:r>
              <a:rPr lang="en-US" b="1" dirty="0"/>
              <a:t>Format of user documentation</a:t>
            </a:r>
          </a:p>
          <a:p>
            <a:pPr marL="0" indent="0">
              <a:spcBef>
                <a:spcPts val="2500"/>
              </a:spcBef>
              <a:buFont typeface="Arial" panose="020B0604020202020204" pitchFamily="34" charset="0"/>
              <a:buNone/>
            </a:pPr>
            <a:r>
              <a:rPr lang="en-US" b="1" dirty="0"/>
              <a:t>Testing strategy</a:t>
            </a:r>
          </a:p>
          <a:p>
            <a:pPr marL="0" indent="0">
              <a:spcBef>
                <a:spcPts val="2500"/>
              </a:spcBef>
              <a:buFont typeface="Arial" panose="020B0604020202020204" pitchFamily="34" charset="0"/>
              <a:buNone/>
            </a:pPr>
            <a:r>
              <a:rPr lang="en-US" b="1" dirty="0"/>
              <a:t>Requirements of </a:t>
            </a:r>
            <a:r>
              <a:rPr lang="en-US" b="1"/>
              <a:t>other project partners</a:t>
            </a:r>
            <a:endParaRPr lang="en-US" b="1" dirty="0"/>
          </a:p>
          <a:p>
            <a:pPr marL="0" indent="0">
              <a:spcBef>
                <a:spcPts val="2500"/>
              </a:spcBef>
              <a:buFont typeface="Arial" panose="020B0604020202020204" pitchFamily="34" charset="0"/>
              <a:buNone/>
            </a:pPr>
            <a:endParaRPr lang="en-US" sz="1400" dirty="0"/>
          </a:p>
        </p:txBody>
      </p:sp>
      <p:pic>
        <p:nvPicPr>
          <p:cNvPr id="5" name="Inhaltsplatzhalter 4" descr="High angle shot of a group of businesspeople analyzing graphs in an office">
            <a:extLst>
              <a:ext uri="{FF2B5EF4-FFF2-40B4-BE49-F238E27FC236}">
                <a16:creationId xmlns:a16="http://schemas.microsoft.com/office/drawing/2014/main" id="{F66B39B4-414C-4825-8212-85352280B4FA}"/>
              </a:ext>
            </a:extLst>
          </p:cNvPr>
          <p:cNvPicPr>
            <a:picLocks noGrp="1" noChangeAspect="1"/>
          </p:cNvPicPr>
          <p:nvPr>
            <p:ph sz="half" idx="1"/>
          </p:nvPr>
        </p:nvPicPr>
        <p:blipFill>
          <a:blip r:embed="rId3"/>
          <a:stretch>
            <a:fillRect/>
          </a:stretch>
        </p:blipFill>
        <p:spPr>
          <a:xfrm>
            <a:off x="7155179" y="3379350"/>
            <a:ext cx="4375829" cy="2920865"/>
          </a:xfrm>
          <a:prstGeom prst="rect">
            <a:avLst/>
          </a:prstGeom>
        </p:spPr>
      </p:pic>
    </p:spTree>
    <p:extLst>
      <p:ext uri="{BB962C8B-B14F-4D97-AF65-F5344CB8AC3E}">
        <p14:creationId xmlns:p14="http://schemas.microsoft.com/office/powerpoint/2010/main" val="2358399480"/>
      </p:ext>
    </p:extLst>
  </p:cSld>
  <p:clrMapOvr>
    <a:masterClrMapping/>
  </p:clrMapOvr>
  <p:transition>
    <p:fade/>
  </p:transition>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747</Words>
  <Application>Microsoft Office PowerPoint</Application>
  <PresentationFormat>Breitbild</PresentationFormat>
  <Paragraphs>75</Paragraphs>
  <Slides>11</Slides>
  <Notes>11</Notes>
  <HiddenSlides>0</HiddenSlides>
  <MMClips>0</MMClips>
  <ScaleCrop>false</ScaleCrop>
  <HeadingPairs>
    <vt:vector size="4" baseType="variant">
      <vt:variant>
        <vt:lpstr>Design</vt:lpstr>
      </vt:variant>
      <vt:variant>
        <vt:i4>1</vt:i4>
      </vt:variant>
      <vt:variant>
        <vt:lpstr>Folientitel</vt:lpstr>
      </vt:variant>
      <vt:variant>
        <vt:i4>11</vt:i4>
      </vt:variant>
    </vt:vector>
  </HeadingPairs>
  <TitlesOfParts>
    <vt:vector size="12" baseType="lpstr">
      <vt:lpstr>DashVTI</vt:lpstr>
      <vt:lpstr>GSpy: Ground Support Python Software for ESA’s EnVision Venus Mission – </vt:lpstr>
      <vt:lpstr>Agenda Overview</vt:lpstr>
      <vt:lpstr>Technical Overview of GSpy Software</vt:lpstr>
      <vt:lpstr>Key Technologies: Python and PyQt6</vt:lpstr>
      <vt:lpstr>Supported Hardware</vt:lpstr>
      <vt:lpstr>Communication Workflow and Data Flow</vt:lpstr>
      <vt:lpstr>Extending GSpy: Adding a New Protocol Service</vt:lpstr>
      <vt:lpstr>Designing a New View with Qt Designer</vt:lpstr>
      <vt:lpstr>Implementing the Python Backend Logic</vt:lpstr>
      <vt:lpstr>Conclusion</vt:lpstr>
      <vt:lpstr>Key Discussion Points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Eike Trumann</dc:creator>
  <cp:lastModifiedBy>Eike Trumann</cp:lastModifiedBy>
  <cp:revision>7</cp:revision>
  <dcterms:created xsi:type="dcterms:W3CDTF">2025-07-28T20:49:16Z</dcterms:created>
  <dcterms:modified xsi:type="dcterms:W3CDTF">2025-08-11T13:55:25Z</dcterms:modified>
</cp:coreProperties>
</file>